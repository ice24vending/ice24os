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objetivo: obtener la validación de la dirección visual antes de construir el resto de pantallas.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Señalar: navegación por grupos, selector de contexto, 4 indicadores y la tarjeta de alerta crítica con 'Marcar enterado' y 'Atender'.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estados operativo, técnico y sanitario se muestran como chips independientes, como lo exige el documento maestro.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04144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7863840" cy="1371600"/>
          </a:xfrm>
          <a:prstGeom prst="rect">
            <a:avLst/>
          </a:prstGeom>
          <a:noFill/>
          <a:ln/>
        </p:spPr>
        <p:txBody>
          <a:bodyPr wrap="square" rtlCol="0"/>
          <a:lstStyle>
            <a:lvl1pPr algn="l" indent="0" marL="0">
              <a:buNone/>
              <a:defRPr lang="en-US" sz="3600" b="1" dirty="0">
                <a:solidFill>
                  <a:srgbClr val="FFFFFF"/>
                </a:solidFill>
                <a:latin typeface="Montserrat" pitchFamily="34" charset="0"/>
                <a:ea typeface="Montserrat" pitchFamily="34" charset="-122"/>
                <a:cs typeface="Montserrat" pitchFamily="34" charset="-120"/>
              </a:defRPr>
            </a:lvl1pPr>
          </a:lstStyle>
          <a:p>
            <a:pPr algn="l" indent="0" marL="0">
              <a:buNone/>
            </a:pPr>
            <a:endParaRPr lang="en-US" sz="3600" dirty="0"/>
          </a:p>
        </p:txBody>
      </p:sp>
      <p:sp>
        <p:nvSpPr>
          <p:cNvPr id="3" name="Text 0"/>
          <p:cNvSpPr/>
          <p:nvPr>
            <p:ph idx="101" type="body" hasCustomPrompt="1"/>
          </p:nvPr>
        </p:nvSpPr>
        <p:spPr>
          <a:xfrm>
            <a:off x="548640" y="2880360"/>
            <a:ext cx="7680960" cy="822960"/>
          </a:xfrm>
          <a:prstGeom prst="rect">
            <a:avLst/>
          </a:prstGeom>
          <a:noFill/>
          <a:ln/>
        </p:spPr>
        <p:txBody>
          <a:bodyPr wrap="square" rtlCol="0"/>
          <a:lstStyle>
            <a:lvl1pPr algn="l" indent="0" marL="0">
              <a:buNone/>
              <a:defRPr lang="en-US" sz="1600" dirty="0">
                <a:solidFill>
                  <a:srgbClr val="9CD5EF"/>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parador">
    <p:bg>
      <p:bgPr>
        <a:solidFill>
          <a:srgbClr val="04144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822960"/>
          </a:xfrm>
          <a:prstGeom prst="rect">
            <a:avLst/>
          </a:prstGeom>
          <a:noFill/>
          <a:ln/>
        </p:spPr>
        <p:txBody>
          <a:bodyPr wrap="square" rtlCol="0"/>
          <a:lstStyle>
            <a:lvl1pPr algn="l" indent="0" marL="0">
              <a:buNone/>
              <a:defRPr lang="en-US" sz="3400" b="1" dirty="0">
                <a:solidFill>
                  <a:srgbClr val="FFFFFF"/>
                </a:solidFill>
                <a:latin typeface="Montserrat" pitchFamily="34" charset="0"/>
                <a:ea typeface="Montserrat" pitchFamily="34" charset="-122"/>
                <a:cs typeface="Montserrat" pitchFamily="34" charset="-120"/>
              </a:defRPr>
            </a:lvl1pPr>
          </a:lstStyle>
          <a:p>
            <a:pPr algn="l" indent="0" marL="0">
              <a:buNone/>
            </a:pPr>
            <a:endParaRPr lang="en-US" sz="3400" dirty="0"/>
          </a:p>
        </p:txBody>
      </p:sp>
      <p:sp>
        <p:nvSpPr>
          <p:cNvPr id="3" name="Text 0"/>
          <p:cNvSpPr/>
          <p:nvPr>
            <p:ph idx="101" type="body" hasCustomPrompt="1"/>
          </p:nvPr>
        </p:nvSpPr>
        <p:spPr>
          <a:xfrm>
            <a:off x="548640" y="2697480"/>
            <a:ext cx="7680960" cy="731520"/>
          </a:xfrm>
          <a:prstGeom prst="rect">
            <a:avLst/>
          </a:prstGeom>
          <a:noFill/>
          <a:ln/>
        </p:spPr>
        <p:txBody>
          <a:bodyPr wrap="square" rtlCol="0"/>
          <a:lstStyle>
            <a:lvl1pPr algn="l" indent="0" marL="0">
              <a:buNone/>
              <a:defRPr lang="en-US" sz="1600" dirty="0">
                <a:solidFill>
                  <a:srgbClr val="9CD5EF"/>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CD5E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rtlCol="0"/>
          <a:lstStyle>
            <a:lvl1pPr algn="l" indent="0" marL="0">
              <a:buNone/>
              <a:defRPr lang="en-US" sz="2400" b="1" dirty="0">
                <a:solidFill>
                  <a:srgbClr val="04144C"/>
                </a:solidFill>
                <a:latin typeface="Montserrat" pitchFamily="34" charset="0"/>
                <a:ea typeface="Montserrat" pitchFamily="34" charset="-122"/>
                <a:cs typeface="Montserrat" pitchFamily="34" charset="-120"/>
              </a:defRPr>
            </a:lvl1pPr>
          </a:lstStyle>
          <a:p>
            <a:pPr algn="l" indent="0" marL="0">
              <a:buNone/>
            </a:pP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rtlCol="0"/>
          <a:lstStyle>
            <a:lvl1pPr algn="l" indent="0" marL="0">
              <a:buNone/>
              <a:defRPr lang="en-US" sz="1200" dirty="0">
                <a:solidFill>
                  <a:srgbClr val="556270"/>
                </a:solidFill>
              </a:defRPr>
            </a:lvl1pPr>
          </a:lstStyle>
          <a:p>
            <a:pPr algn="l" indent="0" marL="0">
              <a:buNone/>
            </a:pPr>
            <a:endParaRPr lang="en-US" sz="1200" dirty="0"/>
          </a:p>
        </p:txBody>
      </p:sp>
      <p:sp>
        <p:nvSpPr>
          <p:cNvPr id="4" name="Text 0"/>
          <p:cNvSpPr/>
          <p:nvPr/>
        </p:nvSpPr>
        <p:spPr>
          <a:xfrm>
            <a:off x="457200" y="4800600"/>
            <a:ext cx="6858000" cy="228600"/>
          </a:xfrm>
          <a:prstGeom prst="rect">
            <a:avLst/>
          </a:prstGeom>
          <a:noFill/>
          <a:ln/>
        </p:spPr>
        <p:txBody>
          <a:bodyPr wrap="square" lIns="0" tIns="0" rIns="0" bIns="0" rtlCol="0" anchor="ctr"/>
          <a:lstStyle/>
          <a:p>
            <a:pPr indent="0" marL="0">
              <a:buNone/>
            </a:pPr>
            <a:r>
              <a:rPr lang="en-US" sz="900" dirty="0">
                <a:solidFill>
                  <a:srgbClr val="556270"/>
                </a:solidFill>
              </a:rPr>
              <a:t>ICE24 OS · Propuesta de identidad visual · Prototipo para validación con datos ficticios</a:t>
            </a:r>
            <a:endParaRPr lang="en-US" sz="9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CD5E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1188720" cy="411480"/>
          </a:xfrm>
          <a:prstGeom prst="rect">
            <a:avLst/>
          </a:prstGeom>
          <a:noFill/>
          <a:ln/>
        </p:spPr>
        <p:txBody>
          <a:bodyPr wrap="square" lIns="0" tIns="0" rIns="0" bIns="0" rtlCol="0" anchor="ctr"/>
          <a:lstStyle/>
          <a:p>
            <a:pPr algn="l" indent="0" marL="0">
              <a:buNone/>
            </a:pPr>
            <a:r>
              <a:rPr lang="en-US" sz="2400" b="1" dirty="0">
                <a:solidFill>
                  <a:srgbClr val="FFFFFF"/>
                </a:solidFill>
                <a:latin typeface="Montserrat" pitchFamily="34" charset="0"/>
                <a:ea typeface="Montserrat" pitchFamily="34" charset="-122"/>
                <a:cs typeface="Montserrat" pitchFamily="34" charset="-120"/>
              </a:rPr>
              <a:t>ICE24</a:t>
            </a:r>
            <a:endParaRPr lang="en-US" sz="2400" dirty="0"/>
          </a:p>
        </p:txBody>
      </p:sp>
      <p:sp>
        <p:nvSpPr>
          <p:cNvPr id="3" name="Text 1"/>
          <p:cNvSpPr txBox="1"/>
          <p:nvPr/>
        </p:nvSpPr>
        <p:spPr>
          <a:xfrm>
            <a:off x="1600200" y="457200"/>
            <a:ext cx="640080" cy="411480"/>
          </a:xfrm>
          <a:prstGeom prst="rect">
            <a:avLst/>
          </a:prstGeom>
          <a:noFill/>
          <a:ln/>
        </p:spPr>
        <p:txBody>
          <a:bodyPr wrap="square" lIns="0" tIns="0" rIns="0" bIns="0" rtlCol="0" anchor="ctr"/>
          <a:lstStyle/>
          <a:p>
            <a:pPr indent="0" marL="0">
              <a:buNone/>
            </a:pPr>
            <a:r>
              <a:rPr lang="en-US" sz="2400" dirty="0">
                <a:solidFill>
                  <a:srgbClr val="35A6E8"/>
                </a:solidFill>
                <a:latin typeface="Montserrat" pitchFamily="34" charset="0"/>
                <a:ea typeface="Montserrat" pitchFamily="34" charset="-122"/>
                <a:cs typeface="Montserrat" pitchFamily="34" charset="-120"/>
              </a:rPr>
              <a:t>OS</a:t>
            </a:r>
            <a:endParaRPr lang="en-US" sz="2400" dirty="0"/>
          </a:p>
        </p:txBody>
      </p:sp>
      <p:sp>
        <p:nvSpPr>
          <p:cNvPr id="4" name="Text 0"/>
          <p:cNvSpPr/>
          <p:nvPr>
            <p:ph idx="100" type="title" hasCustomPrompt="1"/>
          </p:nvPr>
        </p:nvSpPr>
        <p:spPr>
          <a:xfrm>
            <a:off x="548640" y="1417320"/>
            <a:ext cx="7863840" cy="1371600"/>
          </a:xfrm>
          <a:prstGeom prst="rect">
            <a:avLst/>
          </a:prstGeom>
          <a:noFill/>
          <a:ln/>
        </p:spPr>
        <p:txBody>
          <a:bodyPr wrap="square" lIns="0" tIns="0" rIns="0" bIns="0" rtlCol="0" anchor="t"/>
          <a:lstStyle/>
          <a:p>
            <a:pPr algn="l" indent="0" marL="0">
              <a:buNone/>
            </a:pPr>
            <a:r>
              <a:rPr lang="en-US" sz="3600" b="1" dirty="0">
                <a:solidFill>
                  <a:srgbClr val="FFFFFF"/>
                </a:solidFill>
                <a:latin typeface="Montserrat" pitchFamily="34" charset="0"/>
                <a:ea typeface="Montserrat" pitchFamily="34" charset="-122"/>
                <a:cs typeface="Montserrat" pitchFamily="34" charset="-120"/>
              </a:rPr>
              <a:t>Propuesta de identidad visual de ICE24 OS</a:t>
            </a:r>
            <a:endParaRPr lang="en-US" sz="3600" dirty="0"/>
          </a:p>
        </p:txBody>
      </p:sp>
      <p:sp>
        <p:nvSpPr>
          <p:cNvPr id="5" name="Text 0"/>
          <p:cNvSpPr/>
          <p:nvPr>
            <p:ph idx="101" type="body" hasCustomPrompt="1"/>
          </p:nvPr>
        </p:nvSpPr>
        <p:spPr>
          <a:xfrm>
            <a:off x="548640" y="2880360"/>
            <a:ext cx="7680960" cy="822960"/>
          </a:xfrm>
          <a:prstGeom prst="rect">
            <a:avLst/>
          </a:prstGeom>
          <a:noFill/>
          <a:ln/>
        </p:spPr>
        <p:txBody>
          <a:bodyPr wrap="square" lIns="0" tIns="0" rIns="0" bIns="0" rtlCol="0" anchor="t"/>
          <a:lstStyle/>
          <a:p>
            <a:pPr algn="l" indent="0" marL="0">
              <a:buNone/>
            </a:pPr>
            <a:r>
              <a:rPr lang="en-US" sz="1600" dirty="0">
                <a:solidFill>
                  <a:srgbClr val="9CD5EF"/>
                </a:solidFill>
              </a:rPr>
              <a:t>Prototipo de referencia para validación de Dirección · Fase 6 · 15/10/2026</a:t>
            </a:r>
            <a:endParaRPr lang="en-US" sz="1600" dirty="0"/>
          </a:p>
        </p:txBody>
      </p:sp>
      <p:sp>
        <p:nvSpPr>
          <p:cNvPr id="6" name="Shape 4"/>
          <p:cNvSpPr/>
          <p:nvPr/>
        </p:nvSpPr>
        <p:spPr>
          <a:xfrm>
            <a:off x="548640" y="3977640"/>
            <a:ext cx="4937760" cy="457200"/>
          </a:xfrm>
          <a:prstGeom prst="roundRect">
            <a:avLst>
              <a:gd name="adj" fmla="val 20000"/>
            </a:avLst>
          </a:prstGeom>
          <a:solidFill>
            <a:srgbClr val="06226F"/>
          </a:solidFill>
          <a:ln w="12700">
            <a:solidFill>
              <a:srgbClr val="35A6E8"/>
            </a:solidFill>
            <a:prstDash val="solid"/>
          </a:ln>
        </p:spPr>
      </p:sp>
      <p:pic>
        <p:nvPicPr>
          <p:cNvPr id="7" name="Image 0" descr="preencoded.png">    </p:cNvPr>
          <p:cNvPicPr>
            <a:picLocks noChangeAspect="1"/>
          </p:cNvPicPr>
          <p:nvPr/>
        </p:nvPicPr>
        <p:blipFill>
          <a:blip r:embed="rId1"/>
          <a:stretch>
            <a:fillRect/>
          </a:stretch>
        </p:blipFill>
        <p:spPr>
          <a:xfrm>
            <a:off x="685800" y="4096512"/>
            <a:ext cx="219456" cy="219456"/>
          </a:xfrm>
          <a:prstGeom prst="rect">
            <a:avLst/>
          </a:prstGeom>
        </p:spPr>
      </p:pic>
      <p:sp>
        <p:nvSpPr>
          <p:cNvPr id="8" name="Text 5"/>
          <p:cNvSpPr txBox="1"/>
          <p:nvPr/>
        </p:nvSpPr>
        <p:spPr>
          <a:xfrm>
            <a:off x="1005840" y="3977640"/>
            <a:ext cx="4389120" cy="457200"/>
          </a:xfrm>
          <a:prstGeom prst="rect">
            <a:avLst/>
          </a:prstGeom>
          <a:noFill/>
          <a:ln/>
        </p:spPr>
        <p:txBody>
          <a:bodyPr wrap="square" lIns="0" tIns="0" rIns="0" bIns="0" rtlCol="0" anchor="ctr"/>
          <a:lstStyle/>
          <a:p>
            <a:pPr indent="0" marL="0">
              <a:buNone/>
            </a:pPr>
            <a:r>
              <a:rPr lang="en-US" sz="1200" dirty="0">
                <a:solidFill>
                  <a:srgbClr val="FFFFFF"/>
                </a:solidFill>
              </a:rPr>
              <a:t>Documento para aprobación. Las pantallas no son la versión final.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Qué se presenta hoy y qué no</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El prototipo es una guía visual para construir el resto de las pantallas, no el producto terminado</a:t>
            </a:r>
            <a:endParaRPr lang="en-US" sz="1200" dirty="0"/>
          </a:p>
        </p:txBody>
      </p:sp>
      <p:sp>
        <p:nvSpPr>
          <p:cNvPr id="4" name="Shape 2"/>
          <p:cNvSpPr/>
          <p:nvPr/>
        </p:nvSpPr>
        <p:spPr>
          <a:xfrm>
            <a:off x="457200" y="1280160"/>
            <a:ext cx="3977640" cy="3246120"/>
          </a:xfrm>
          <a:prstGeom prst="roundRect">
            <a:avLst>
              <a:gd name="adj" fmla="val 3944"/>
            </a:avLst>
          </a:prstGeom>
          <a:solidFill>
            <a:srgbClr val="E4F5FD"/>
          </a:solidFill>
          <a:ln w="12700">
            <a:solidFill>
              <a:srgbClr val="E4F5FD"/>
            </a:solidFill>
            <a:prstDash val="solid"/>
          </a:ln>
        </p:spPr>
      </p:sp>
      <p:pic>
        <p:nvPicPr>
          <p:cNvPr id="5" name="Image 0" descr="preencoded.png">    </p:cNvPr>
          <p:cNvPicPr>
            <a:picLocks noChangeAspect="1"/>
          </p:cNvPicPr>
          <p:nvPr/>
        </p:nvPicPr>
        <p:blipFill>
          <a:blip r:embed="rId1"/>
          <a:stretch>
            <a:fillRect/>
          </a:stretch>
        </p:blipFill>
        <p:spPr>
          <a:xfrm>
            <a:off x="731520" y="1481328"/>
            <a:ext cx="310896" cy="310896"/>
          </a:xfrm>
          <a:prstGeom prst="rect">
            <a:avLst/>
          </a:prstGeom>
        </p:spPr>
      </p:pic>
      <p:sp>
        <p:nvSpPr>
          <p:cNvPr id="6" name="Text 3"/>
          <p:cNvSpPr txBox="1"/>
          <p:nvPr/>
        </p:nvSpPr>
        <p:spPr>
          <a:xfrm>
            <a:off x="1143000" y="1444752"/>
            <a:ext cx="3108960" cy="384048"/>
          </a:xfrm>
          <a:prstGeom prst="rect">
            <a:avLst/>
          </a:prstGeom>
          <a:noFill/>
          <a:ln/>
        </p:spPr>
        <p:txBody>
          <a:bodyPr wrap="square" lIns="0" tIns="0" rIns="0" bIns="0" rtlCol="0" anchor="ctr"/>
          <a:lstStyle/>
          <a:p>
            <a:pPr indent="0" marL="0">
              <a:buNone/>
            </a:pPr>
            <a:r>
              <a:rPr lang="en-US" sz="1700" b="1" dirty="0">
                <a:solidFill>
                  <a:srgbClr val="04144C"/>
                </a:solidFill>
                <a:latin typeface="Montserrat" pitchFamily="34" charset="0"/>
                <a:ea typeface="Montserrat" pitchFamily="34" charset="-122"/>
                <a:cs typeface="Montserrat" pitchFamily="34" charset="-120"/>
              </a:rPr>
              <a:t>Lo que sí es</a:t>
            </a:r>
            <a:endParaRPr lang="en-US" sz="1700" dirty="0"/>
          </a:p>
        </p:txBody>
      </p:sp>
      <p:sp>
        <p:nvSpPr>
          <p:cNvPr id="7" name="Text 4"/>
          <p:cNvSpPr txBox="1"/>
          <p:nvPr/>
        </p:nvSpPr>
        <p:spPr>
          <a:xfrm>
            <a:off x="731520" y="1965960"/>
            <a:ext cx="3520440" cy="2423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7212B"/>
                </a:solidFill>
              </a:rPr>
              <a:t>Una propuesta de paleta, tipografía y componentes basada en UI_UX.md</a:t>
            </a:r>
            <a:endParaRPr lang="en-US" sz="1400" dirty="0"/>
          </a:p>
          <a:p>
            <a:pPr marL="342900" indent="-342900">
              <a:spcAft>
                <a:spcPts val="800"/>
              </a:spcAft>
              <a:buSzPct val="100000"/>
              <a:buChar char="•"/>
            </a:pPr>
            <a:r>
              <a:rPr lang="en-US" sz="1400" dirty="0">
                <a:solidFill>
                  <a:srgbClr val="17212B"/>
                </a:solidFill>
              </a:rPr>
              <a:t>Una guía de referencia para generar el resto de las pantallas</a:t>
            </a:r>
            <a:endParaRPr lang="en-US" sz="1400" dirty="0"/>
          </a:p>
          <a:p>
            <a:pPr marL="342900" indent="-342900">
              <a:spcAft>
                <a:spcPts val="800"/>
              </a:spcAft>
              <a:buSzPct val="100000"/>
              <a:buChar char="•"/>
            </a:pPr>
            <a:r>
              <a:rPr lang="en-US" sz="1400" dirty="0">
                <a:solidFill>
                  <a:srgbClr val="17212B"/>
                </a:solidFill>
              </a:rPr>
              <a:t>Un punto de partida que mejorará durante la Fase 6</a:t>
            </a:r>
            <a:endParaRPr lang="en-US" sz="1400" dirty="0"/>
          </a:p>
        </p:txBody>
      </p:sp>
      <p:sp>
        <p:nvSpPr>
          <p:cNvPr id="8" name="Shape 5"/>
          <p:cNvSpPr/>
          <p:nvPr/>
        </p:nvSpPr>
        <p:spPr>
          <a:xfrm>
            <a:off x="4709160" y="1280160"/>
            <a:ext cx="3977640" cy="3246120"/>
          </a:xfrm>
          <a:prstGeom prst="roundRect">
            <a:avLst>
              <a:gd name="adj" fmla="val 3944"/>
            </a:avLst>
          </a:prstGeom>
          <a:solidFill>
            <a:srgbClr val="EDF0F3"/>
          </a:solidFill>
          <a:ln w="12700">
            <a:solidFill>
              <a:srgbClr val="EDF0F3"/>
            </a:solidFill>
            <a:prstDash val="solid"/>
          </a:ln>
        </p:spPr>
      </p:sp>
      <p:pic>
        <p:nvPicPr>
          <p:cNvPr id="9" name="Image 1" descr="preencoded.png">    </p:cNvPr>
          <p:cNvPicPr>
            <a:picLocks noChangeAspect="1"/>
          </p:cNvPicPr>
          <p:nvPr/>
        </p:nvPicPr>
        <p:blipFill>
          <a:blip r:embed="rId2"/>
          <a:stretch>
            <a:fillRect/>
          </a:stretch>
        </p:blipFill>
        <p:spPr>
          <a:xfrm>
            <a:off x="4983480" y="1481328"/>
            <a:ext cx="310896" cy="310896"/>
          </a:xfrm>
          <a:prstGeom prst="rect">
            <a:avLst/>
          </a:prstGeom>
        </p:spPr>
      </p:pic>
      <p:sp>
        <p:nvSpPr>
          <p:cNvPr id="10" name="Text 6"/>
          <p:cNvSpPr txBox="1"/>
          <p:nvPr/>
        </p:nvSpPr>
        <p:spPr>
          <a:xfrm>
            <a:off x="5394960" y="1444752"/>
            <a:ext cx="3108960" cy="384048"/>
          </a:xfrm>
          <a:prstGeom prst="rect">
            <a:avLst/>
          </a:prstGeom>
          <a:noFill/>
          <a:ln/>
        </p:spPr>
        <p:txBody>
          <a:bodyPr wrap="square" lIns="0" tIns="0" rIns="0" bIns="0" rtlCol="0" anchor="ctr"/>
          <a:lstStyle/>
          <a:p>
            <a:pPr indent="0" marL="0">
              <a:buNone/>
            </a:pPr>
            <a:r>
              <a:rPr lang="en-US" sz="1700" b="1" dirty="0">
                <a:solidFill>
                  <a:srgbClr val="3A4754"/>
                </a:solidFill>
                <a:latin typeface="Montserrat" pitchFamily="34" charset="0"/>
                <a:ea typeface="Montserrat" pitchFamily="34" charset="-122"/>
                <a:cs typeface="Montserrat" pitchFamily="34" charset="-120"/>
              </a:rPr>
              <a:t>Lo que no es</a:t>
            </a:r>
            <a:endParaRPr lang="en-US" sz="1700" dirty="0"/>
          </a:p>
        </p:txBody>
      </p:sp>
      <p:sp>
        <p:nvSpPr>
          <p:cNvPr id="11" name="Text 7"/>
          <p:cNvSpPr txBox="1"/>
          <p:nvPr/>
        </p:nvSpPr>
        <p:spPr>
          <a:xfrm>
            <a:off x="4983480" y="1965960"/>
            <a:ext cx="3520440" cy="2423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7212B"/>
                </a:solidFill>
              </a:rPr>
              <a:t>No es la vista final ni el diseño definitivo</a:t>
            </a:r>
            <a:endParaRPr lang="en-US" sz="1400" dirty="0"/>
          </a:p>
          <a:p>
            <a:pPr marL="342900" indent="-342900">
              <a:spcAft>
                <a:spcPts val="800"/>
              </a:spcAft>
              <a:buSzPct val="100000"/>
              <a:buChar char="•"/>
            </a:pPr>
            <a:r>
              <a:rPr lang="en-US" sz="1400" dirty="0">
                <a:solidFill>
                  <a:srgbClr val="17212B"/>
                </a:solidFill>
              </a:rPr>
              <a:t>No es código que vaya a producción</a:t>
            </a:r>
            <a:endParaRPr lang="en-US" sz="1400" dirty="0"/>
          </a:p>
          <a:p>
            <a:pPr marL="342900" indent="-342900">
              <a:spcAft>
                <a:spcPts val="800"/>
              </a:spcAft>
              <a:buSzPct val="100000"/>
              <a:buChar char="•"/>
            </a:pPr>
            <a:r>
              <a:rPr lang="en-US" sz="1400" dirty="0">
                <a:solidFill>
                  <a:srgbClr val="17212B"/>
                </a:solidFill>
              </a:rPr>
              <a:t>No usa datos reales: todo lo mostrado es ficticio</a:t>
            </a:r>
            <a:endParaRPr lang="en-US" sz="1400" dirty="0"/>
          </a:p>
          <a:p>
            <a:pPr marL="342900" indent="-342900">
              <a:spcAft>
                <a:spcPts val="800"/>
              </a:spcAft>
              <a:buSzPct val="100000"/>
              <a:buChar char="•"/>
            </a:pPr>
            <a:r>
              <a:rPr lang="en-US" sz="1400" dirty="0">
                <a:solidFill>
                  <a:srgbClr val="17212B"/>
                </a:solidFill>
              </a:rPr>
              <a:t>No se aplica al sistema sin su validación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Cómo leer las capturas</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Tres aclaraciones que aplican a todas las pantallas de esta presentación</a:t>
            </a:r>
            <a:endParaRPr lang="en-US" sz="1200" dirty="0"/>
          </a:p>
        </p:txBody>
      </p:sp>
      <p:sp>
        <p:nvSpPr>
          <p:cNvPr id="4" name="Shape 2"/>
          <p:cNvSpPr/>
          <p:nvPr/>
        </p:nvSpPr>
        <p:spPr>
          <a:xfrm>
            <a:off x="457200" y="1353312"/>
            <a:ext cx="566928" cy="566928"/>
          </a:xfrm>
          <a:prstGeom prst="ellipse">
            <a:avLst/>
          </a:prstGeom>
          <a:solidFill>
            <a:srgbClr val="FFF4DB"/>
          </a:solidFill>
          <a:ln w="12700">
            <a:solidFill>
              <a:srgbClr val="FFF4DB"/>
            </a:solidFill>
            <a:prstDash val="solid"/>
          </a:ln>
        </p:spPr>
      </p:sp>
      <p:pic>
        <p:nvPicPr>
          <p:cNvPr id="5" name="Image 0" descr="preencoded.png">    </p:cNvPr>
          <p:cNvPicPr>
            <a:picLocks noChangeAspect="1"/>
          </p:cNvPicPr>
          <p:nvPr/>
        </p:nvPicPr>
        <p:blipFill>
          <a:blip r:embed="rId1"/>
          <a:stretch>
            <a:fillRect/>
          </a:stretch>
        </p:blipFill>
        <p:spPr>
          <a:xfrm>
            <a:off x="603504" y="1499616"/>
            <a:ext cx="274320" cy="274320"/>
          </a:xfrm>
          <a:prstGeom prst="rect">
            <a:avLst/>
          </a:prstGeom>
        </p:spPr>
      </p:pic>
      <p:sp>
        <p:nvSpPr>
          <p:cNvPr id="6" name="Text 3"/>
          <p:cNvSpPr txBox="1"/>
          <p:nvPr/>
        </p:nvSpPr>
        <p:spPr>
          <a:xfrm>
            <a:off x="1234440" y="1280160"/>
            <a:ext cx="7406640" cy="329184"/>
          </a:xfrm>
          <a:prstGeom prst="rect">
            <a:avLst/>
          </a:prstGeom>
          <a:noFill/>
          <a:ln/>
        </p:spPr>
        <p:txBody>
          <a:bodyPr wrap="square" lIns="0" tIns="0" rIns="0" bIns="0" rtlCol="0" anchor="ctr"/>
          <a:lstStyle/>
          <a:p>
            <a:pPr indent="0" marL="0">
              <a:buNone/>
            </a:pPr>
            <a:r>
              <a:rPr lang="en-US" sz="1500" b="1" dirty="0">
                <a:solidFill>
                  <a:srgbClr val="04144C"/>
                </a:solidFill>
                <a:latin typeface="Montserrat" pitchFamily="34" charset="0"/>
                <a:ea typeface="Montserrat" pitchFamily="34" charset="-122"/>
                <a:cs typeface="Montserrat" pitchFamily="34" charset="-120"/>
              </a:rPr>
              <a:t>Datos ficticios</a:t>
            </a:r>
            <a:endParaRPr lang="en-US" sz="1500" dirty="0"/>
          </a:p>
        </p:txBody>
      </p:sp>
      <p:sp>
        <p:nvSpPr>
          <p:cNvPr id="7" name="Text 4"/>
          <p:cNvSpPr txBox="1"/>
          <p:nvPr/>
        </p:nvSpPr>
        <p:spPr>
          <a:xfrm>
            <a:off x="1234440" y="1627632"/>
            <a:ext cx="7406640" cy="640080"/>
          </a:xfrm>
          <a:prstGeom prst="rect">
            <a:avLst/>
          </a:prstGeom>
          <a:noFill/>
          <a:ln/>
        </p:spPr>
        <p:txBody>
          <a:bodyPr wrap="square" lIns="0" tIns="0" rIns="0" bIns="0" rtlCol="0" anchor="t"/>
          <a:lstStyle/>
          <a:p>
            <a:pPr indent="0" marL="0">
              <a:buNone/>
            </a:pPr>
            <a:r>
              <a:rPr lang="en-US" sz="1200" dirty="0">
                <a:solidFill>
                  <a:srgbClr val="3A4754"/>
                </a:solidFill>
              </a:rPr>
              <a:t>Nombres, cuentas, sucursales, máquinas, folios y cifras (por ejemplo «Mariana Garza», «Cuenta Norte», «ICE24-000145») son inventados para ilustrar el diseño. No provienen de clientes ni de la operación real.</a:t>
            </a:r>
            <a:endParaRPr lang="en-US" sz="1200" dirty="0"/>
          </a:p>
        </p:txBody>
      </p:sp>
      <p:sp>
        <p:nvSpPr>
          <p:cNvPr id="8" name="Shape 5"/>
          <p:cNvSpPr/>
          <p:nvPr/>
        </p:nvSpPr>
        <p:spPr>
          <a:xfrm>
            <a:off x="457200" y="2468880"/>
            <a:ext cx="566928" cy="566928"/>
          </a:xfrm>
          <a:prstGeom prst="ellipse">
            <a:avLst/>
          </a:prstGeom>
          <a:solidFill>
            <a:srgbClr val="E4F5FD"/>
          </a:solidFill>
          <a:ln w="12700">
            <a:solidFill>
              <a:srgbClr val="E4F5FD"/>
            </a:solidFill>
            <a:prstDash val="solid"/>
          </a:ln>
        </p:spPr>
      </p:sp>
      <p:pic>
        <p:nvPicPr>
          <p:cNvPr id="9" name="Image 1" descr="preencoded.png">    </p:cNvPr>
          <p:cNvPicPr>
            <a:picLocks noChangeAspect="1"/>
          </p:cNvPicPr>
          <p:nvPr/>
        </p:nvPicPr>
        <p:blipFill>
          <a:blip r:embed="rId2"/>
          <a:stretch>
            <a:fillRect/>
          </a:stretch>
        </p:blipFill>
        <p:spPr>
          <a:xfrm>
            <a:off x="603504" y="2615184"/>
            <a:ext cx="274320" cy="274320"/>
          </a:xfrm>
          <a:prstGeom prst="rect">
            <a:avLst/>
          </a:prstGeom>
        </p:spPr>
      </p:pic>
      <p:sp>
        <p:nvSpPr>
          <p:cNvPr id="10" name="Text 6"/>
          <p:cNvSpPr txBox="1"/>
          <p:nvPr/>
        </p:nvSpPr>
        <p:spPr>
          <a:xfrm>
            <a:off x="1234440" y="2395728"/>
            <a:ext cx="7406640" cy="329184"/>
          </a:xfrm>
          <a:prstGeom prst="rect">
            <a:avLst/>
          </a:prstGeom>
          <a:noFill/>
          <a:ln/>
        </p:spPr>
        <p:txBody>
          <a:bodyPr wrap="square" lIns="0" tIns="0" rIns="0" bIns="0" rtlCol="0" anchor="ctr"/>
          <a:lstStyle/>
          <a:p>
            <a:pPr indent="0" marL="0">
              <a:buNone/>
            </a:pPr>
            <a:r>
              <a:rPr lang="en-US" sz="1500" b="1" dirty="0">
                <a:solidFill>
                  <a:srgbClr val="04144C"/>
                </a:solidFill>
                <a:latin typeface="Montserrat" pitchFamily="34" charset="0"/>
                <a:ea typeface="Montserrat" pitchFamily="34" charset="-122"/>
                <a:cs typeface="Montserrat" pitchFamily="34" charset="-120"/>
              </a:rPr>
              <a:t>Prototipo generado con herramienta de prototipado</a:t>
            </a:r>
            <a:endParaRPr lang="en-US" sz="1500" dirty="0"/>
          </a:p>
        </p:txBody>
      </p:sp>
      <p:sp>
        <p:nvSpPr>
          <p:cNvPr id="11" name="Text 7"/>
          <p:cNvSpPr txBox="1"/>
          <p:nvPr/>
        </p:nvSpPr>
        <p:spPr>
          <a:xfrm>
            <a:off x="1234440" y="2743200"/>
            <a:ext cx="7406640" cy="640080"/>
          </a:xfrm>
          <a:prstGeom prst="rect">
            <a:avLst/>
          </a:prstGeom>
          <a:noFill/>
          <a:ln/>
        </p:spPr>
        <p:txBody>
          <a:bodyPr wrap="square" lIns="0" tIns="0" rIns="0" bIns="0" rtlCol="0" anchor="t"/>
          <a:lstStyle/>
          <a:p>
            <a:pPr indent="0" marL="0">
              <a:buNone/>
            </a:pPr>
            <a:r>
              <a:rPr lang="en-US" sz="1200" dirty="0">
                <a:solidFill>
                  <a:srgbClr val="3A4754"/>
                </a:solidFill>
              </a:rPr>
              <a:t>Se elaboró en Lovable a partir de la especificación UI_UX.md. Elementos como el botón «Demo» o la barra «Pregúntale a Lovable» pertenecen a la herramienta y no forman parte del sistema.</a:t>
            </a:r>
            <a:endParaRPr lang="en-US" sz="1200" dirty="0"/>
          </a:p>
        </p:txBody>
      </p:sp>
      <p:sp>
        <p:nvSpPr>
          <p:cNvPr id="12" name="Shape 8"/>
          <p:cNvSpPr/>
          <p:nvPr/>
        </p:nvSpPr>
        <p:spPr>
          <a:xfrm>
            <a:off x="457200" y="3584448"/>
            <a:ext cx="566928" cy="566928"/>
          </a:xfrm>
          <a:prstGeom prst="ellipse">
            <a:avLst/>
          </a:prstGeom>
          <a:solidFill>
            <a:srgbClr val="EDF0F3"/>
          </a:solidFill>
          <a:ln w="12700">
            <a:solidFill>
              <a:srgbClr val="EDF0F3"/>
            </a:solidFill>
            <a:prstDash val="solid"/>
          </a:ln>
        </p:spPr>
      </p:sp>
      <p:pic>
        <p:nvPicPr>
          <p:cNvPr id="13" name="Image 2" descr="preencoded.png">    </p:cNvPr>
          <p:cNvPicPr>
            <a:picLocks noChangeAspect="1"/>
          </p:cNvPicPr>
          <p:nvPr/>
        </p:nvPicPr>
        <p:blipFill>
          <a:blip r:embed="rId3"/>
          <a:stretch>
            <a:fillRect/>
          </a:stretch>
        </p:blipFill>
        <p:spPr>
          <a:xfrm>
            <a:off x="603504" y="3730752"/>
            <a:ext cx="274320" cy="274320"/>
          </a:xfrm>
          <a:prstGeom prst="rect">
            <a:avLst/>
          </a:prstGeom>
        </p:spPr>
      </p:pic>
      <p:sp>
        <p:nvSpPr>
          <p:cNvPr id="14" name="Text 9"/>
          <p:cNvSpPr txBox="1"/>
          <p:nvPr/>
        </p:nvSpPr>
        <p:spPr>
          <a:xfrm>
            <a:off x="1234440" y="3511296"/>
            <a:ext cx="7406640" cy="329184"/>
          </a:xfrm>
          <a:prstGeom prst="rect">
            <a:avLst/>
          </a:prstGeom>
          <a:noFill/>
          <a:ln/>
        </p:spPr>
        <p:txBody>
          <a:bodyPr wrap="square" lIns="0" tIns="0" rIns="0" bIns="0" rtlCol="0" anchor="ctr"/>
          <a:lstStyle/>
          <a:p>
            <a:pPr indent="0" marL="0">
              <a:buNone/>
            </a:pPr>
            <a:r>
              <a:rPr lang="en-US" sz="1500" b="1" dirty="0">
                <a:solidFill>
                  <a:srgbClr val="04144C"/>
                </a:solidFill>
                <a:latin typeface="Montserrat" pitchFamily="34" charset="0"/>
                <a:ea typeface="Montserrat" pitchFamily="34" charset="-122"/>
                <a:cs typeface="Montserrat" pitchFamily="34" charset="-120"/>
              </a:rPr>
              <a:t>Tipografía provisional</a:t>
            </a:r>
            <a:endParaRPr lang="en-US" sz="1500" dirty="0"/>
          </a:p>
        </p:txBody>
      </p:sp>
      <p:sp>
        <p:nvSpPr>
          <p:cNvPr id="15" name="Text 10"/>
          <p:cNvSpPr txBox="1"/>
          <p:nvPr/>
        </p:nvSpPr>
        <p:spPr>
          <a:xfrm>
            <a:off x="1234440" y="3858768"/>
            <a:ext cx="7406640" cy="640080"/>
          </a:xfrm>
          <a:prstGeom prst="rect">
            <a:avLst/>
          </a:prstGeom>
          <a:noFill/>
          <a:ln/>
        </p:spPr>
        <p:txBody>
          <a:bodyPr wrap="square" lIns="0" tIns="0" rIns="0" bIns="0" rtlCol="0" anchor="t"/>
          <a:lstStyle/>
          <a:p>
            <a:pPr indent="0" marL="0">
              <a:buNone/>
            </a:pPr>
            <a:r>
              <a:rPr lang="en-US" sz="1200" dirty="0">
                <a:solidFill>
                  <a:srgbClr val="3A4754"/>
                </a:solidFill>
              </a:rPr>
              <a:t>Se usa Montserrat como aproximación a la marca hasta recibir la fuente oficial de ICE24. El logotipo se muestra como texto; se sustituirá por el archivo maestro aprobado.</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Del prototipo al sistema final</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Hoy se valida la dirección visual; el diseño definitivo se construye y se firma durante la Fase 6</a:t>
            </a:r>
            <a:endParaRPr lang="en-US" sz="1200" dirty="0"/>
          </a:p>
        </p:txBody>
      </p:sp>
      <p:sp>
        <p:nvSpPr>
          <p:cNvPr id="4" name="Shape 2"/>
          <p:cNvSpPr/>
          <p:nvPr/>
        </p:nvSpPr>
        <p:spPr>
          <a:xfrm>
            <a:off x="457200" y="1417320"/>
            <a:ext cx="1874520" cy="2926080"/>
          </a:xfrm>
          <a:prstGeom prst="roundRect">
            <a:avLst>
              <a:gd name="adj" fmla="val 6829"/>
            </a:avLst>
          </a:prstGeom>
          <a:solidFill>
            <a:srgbClr val="FFFFFF"/>
          </a:solidFill>
          <a:ln w="12700">
            <a:solidFill>
              <a:srgbClr val="DDE2E7"/>
            </a:solidFill>
            <a:prstDash val="solid"/>
          </a:ln>
        </p:spPr>
      </p:sp>
      <p:sp>
        <p:nvSpPr>
          <p:cNvPr id="5" name="Shape 3"/>
          <p:cNvSpPr/>
          <p:nvPr/>
        </p:nvSpPr>
        <p:spPr>
          <a:xfrm>
            <a:off x="640080" y="1627632"/>
            <a:ext cx="457200" cy="457200"/>
          </a:xfrm>
          <a:prstGeom prst="ellipse">
            <a:avLst/>
          </a:prstGeom>
          <a:solidFill>
            <a:srgbClr val="04144C"/>
          </a:solidFill>
          <a:ln w="12700">
            <a:solidFill>
              <a:srgbClr val="04144C"/>
            </a:solidFill>
            <a:prstDash val="solid"/>
          </a:ln>
        </p:spPr>
      </p:sp>
      <p:sp>
        <p:nvSpPr>
          <p:cNvPr id="6" name="Text 4"/>
          <p:cNvSpPr txBox="1"/>
          <p:nvPr/>
        </p:nvSpPr>
        <p:spPr>
          <a:xfrm>
            <a:off x="64008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1</a:t>
            </a:r>
            <a:endParaRPr lang="en-US" sz="1600" dirty="0"/>
          </a:p>
        </p:txBody>
      </p:sp>
      <p:sp>
        <p:nvSpPr>
          <p:cNvPr id="7" name="Text 5"/>
          <p:cNvSpPr txBox="1"/>
          <p:nvPr/>
        </p:nvSpPr>
        <p:spPr>
          <a:xfrm>
            <a:off x="640080" y="2240280"/>
            <a:ext cx="1600200" cy="365760"/>
          </a:xfrm>
          <a:prstGeom prst="rect">
            <a:avLst/>
          </a:prstGeom>
          <a:noFill/>
          <a:ln/>
        </p:spPr>
        <p:txBody>
          <a:bodyPr wrap="square" lIns="0" tIns="0" rIns="0" bIns="0" rtlCol="0" anchor="ctr"/>
          <a:lstStyle/>
          <a:p>
            <a:pPr indent="0" marL="0">
              <a:buNone/>
            </a:pPr>
            <a:r>
              <a:rPr lang="en-US" sz="1500" b="1" dirty="0">
                <a:solidFill>
                  <a:srgbClr val="04144C"/>
                </a:solidFill>
                <a:latin typeface="Montserrat" pitchFamily="34" charset="0"/>
                <a:ea typeface="Montserrat" pitchFamily="34" charset="-122"/>
                <a:cs typeface="Montserrat" pitchFamily="34" charset="-120"/>
              </a:rPr>
              <a:t>Prototipo</a:t>
            </a:r>
            <a:endParaRPr lang="en-US" sz="1500" dirty="0"/>
          </a:p>
        </p:txBody>
      </p:sp>
      <p:sp>
        <p:nvSpPr>
          <p:cNvPr id="8" name="Text 6"/>
          <p:cNvSpPr txBox="1"/>
          <p:nvPr/>
        </p:nvSpPr>
        <p:spPr>
          <a:xfrm>
            <a:off x="640080" y="2651760"/>
            <a:ext cx="1554480" cy="1051560"/>
          </a:xfrm>
          <a:prstGeom prst="rect">
            <a:avLst/>
          </a:prstGeom>
          <a:noFill/>
          <a:ln/>
        </p:spPr>
        <p:txBody>
          <a:bodyPr wrap="square" lIns="0" tIns="0" rIns="0" bIns="0" rtlCol="0" anchor="t"/>
          <a:lstStyle/>
          <a:p>
            <a:pPr indent="0" marL="0">
              <a:buNone/>
            </a:pPr>
            <a:r>
              <a:rPr lang="en-US" sz="1200" dirty="0">
                <a:solidFill>
                  <a:srgbClr val="3A4754"/>
                </a:solidFill>
              </a:rPr>
              <a:t>Propuesta visual con datos ficticios</a:t>
            </a:r>
            <a:endParaRPr lang="en-US" sz="1200" dirty="0"/>
          </a:p>
        </p:txBody>
      </p:sp>
      <p:sp>
        <p:nvSpPr>
          <p:cNvPr id="9" name="Shape 7"/>
          <p:cNvSpPr/>
          <p:nvPr/>
        </p:nvSpPr>
        <p:spPr>
          <a:xfrm>
            <a:off x="640080" y="3840480"/>
            <a:ext cx="1005840" cy="274320"/>
          </a:xfrm>
          <a:prstGeom prst="roundRect">
            <a:avLst>
              <a:gd name="adj" fmla="val 50000"/>
            </a:avLst>
          </a:prstGeom>
          <a:solidFill>
            <a:srgbClr val="E8F6EF"/>
          </a:solidFill>
          <a:ln w="12700">
            <a:solidFill>
              <a:srgbClr val="E8F6EF"/>
            </a:solidFill>
            <a:prstDash val="solid"/>
          </a:ln>
        </p:spPr>
      </p:sp>
      <p:sp>
        <p:nvSpPr>
          <p:cNvPr id="10" name="Text 8"/>
          <p:cNvSpPr txBox="1"/>
          <p:nvPr/>
        </p:nvSpPr>
        <p:spPr>
          <a:xfrm>
            <a:off x="640080" y="3840480"/>
            <a:ext cx="1005840" cy="274320"/>
          </a:xfrm>
          <a:prstGeom prst="rect">
            <a:avLst/>
          </a:prstGeom>
          <a:noFill/>
          <a:ln/>
        </p:spPr>
        <p:txBody>
          <a:bodyPr wrap="square" lIns="0" tIns="0" rIns="0" bIns="0" rtlCol="0" anchor="ctr"/>
          <a:lstStyle/>
          <a:p>
            <a:pPr algn="ctr" indent="0" marL="0">
              <a:buNone/>
            </a:pPr>
            <a:r>
              <a:rPr lang="en-US" sz="1000" b="1" dirty="0">
                <a:solidFill>
                  <a:srgbClr val="16794D"/>
                </a:solidFill>
              </a:rPr>
              <a:t>Listo</a:t>
            </a:r>
            <a:endParaRPr lang="en-US" sz="1000" dirty="0"/>
          </a:p>
        </p:txBody>
      </p:sp>
      <p:sp>
        <p:nvSpPr>
          <p:cNvPr id="11" name="Shape 9"/>
          <p:cNvSpPr/>
          <p:nvPr/>
        </p:nvSpPr>
        <p:spPr>
          <a:xfrm>
            <a:off x="2560320" y="1417320"/>
            <a:ext cx="1874520" cy="2926080"/>
          </a:xfrm>
          <a:prstGeom prst="roundRect">
            <a:avLst>
              <a:gd name="adj" fmla="val 6829"/>
            </a:avLst>
          </a:prstGeom>
          <a:solidFill>
            <a:srgbClr val="F4FBFE"/>
          </a:solidFill>
          <a:ln w="25400">
            <a:solidFill>
              <a:srgbClr val="0455C4"/>
            </a:solidFill>
            <a:prstDash val="solid"/>
          </a:ln>
        </p:spPr>
      </p:sp>
      <p:sp>
        <p:nvSpPr>
          <p:cNvPr id="12" name="Shape 10"/>
          <p:cNvSpPr/>
          <p:nvPr/>
        </p:nvSpPr>
        <p:spPr>
          <a:xfrm>
            <a:off x="2743200" y="1627632"/>
            <a:ext cx="457200" cy="457200"/>
          </a:xfrm>
          <a:prstGeom prst="ellipse">
            <a:avLst/>
          </a:prstGeom>
          <a:solidFill>
            <a:srgbClr val="0455C4"/>
          </a:solidFill>
          <a:ln w="12700">
            <a:solidFill>
              <a:srgbClr val="0455C4"/>
            </a:solidFill>
            <a:prstDash val="solid"/>
          </a:ln>
        </p:spPr>
      </p:sp>
      <p:sp>
        <p:nvSpPr>
          <p:cNvPr id="13" name="Text 11"/>
          <p:cNvSpPr txBox="1"/>
          <p:nvPr/>
        </p:nvSpPr>
        <p:spPr>
          <a:xfrm>
            <a:off x="274320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2</a:t>
            </a:r>
            <a:endParaRPr lang="en-US" sz="1600" dirty="0"/>
          </a:p>
        </p:txBody>
      </p:sp>
      <p:sp>
        <p:nvSpPr>
          <p:cNvPr id="14" name="Text 12"/>
          <p:cNvSpPr txBox="1"/>
          <p:nvPr/>
        </p:nvSpPr>
        <p:spPr>
          <a:xfrm>
            <a:off x="2743200" y="2240280"/>
            <a:ext cx="1600200" cy="365760"/>
          </a:xfrm>
          <a:prstGeom prst="rect">
            <a:avLst/>
          </a:prstGeom>
          <a:noFill/>
          <a:ln/>
        </p:spPr>
        <p:txBody>
          <a:bodyPr wrap="square" lIns="0" tIns="0" rIns="0" bIns="0" rtlCol="0" anchor="ctr"/>
          <a:lstStyle/>
          <a:p>
            <a:pPr indent="0" marL="0">
              <a:buNone/>
            </a:pPr>
            <a:r>
              <a:rPr lang="en-US" sz="1500" b="1" dirty="0">
                <a:solidFill>
                  <a:srgbClr val="04144C"/>
                </a:solidFill>
                <a:latin typeface="Montserrat" pitchFamily="34" charset="0"/>
                <a:ea typeface="Montserrat" pitchFamily="34" charset="-122"/>
                <a:cs typeface="Montserrat" pitchFamily="34" charset="-120"/>
              </a:rPr>
              <a:t>Validación</a:t>
            </a:r>
            <a:endParaRPr lang="en-US" sz="1500" dirty="0"/>
          </a:p>
        </p:txBody>
      </p:sp>
      <p:sp>
        <p:nvSpPr>
          <p:cNvPr id="15" name="Text 13"/>
          <p:cNvSpPr txBox="1"/>
          <p:nvPr/>
        </p:nvSpPr>
        <p:spPr>
          <a:xfrm>
            <a:off x="2743200" y="2651760"/>
            <a:ext cx="1554480" cy="1051560"/>
          </a:xfrm>
          <a:prstGeom prst="rect">
            <a:avLst/>
          </a:prstGeom>
          <a:noFill/>
          <a:ln/>
        </p:spPr>
        <p:txBody>
          <a:bodyPr wrap="square" lIns="0" tIns="0" rIns="0" bIns="0" rtlCol="0" anchor="t"/>
          <a:lstStyle/>
          <a:p>
            <a:pPr indent="0" marL="0">
              <a:buNone/>
            </a:pPr>
            <a:r>
              <a:rPr lang="en-US" sz="1200" dirty="0">
                <a:solidFill>
                  <a:srgbClr val="3A4754"/>
                </a:solidFill>
              </a:rPr>
              <a:t>Dirección aprueba, ajusta o rechaza la dirección visual</a:t>
            </a:r>
            <a:endParaRPr lang="en-US" sz="1200" dirty="0"/>
          </a:p>
        </p:txBody>
      </p:sp>
      <p:sp>
        <p:nvSpPr>
          <p:cNvPr id="16" name="Shape 14"/>
          <p:cNvSpPr/>
          <p:nvPr/>
        </p:nvSpPr>
        <p:spPr>
          <a:xfrm>
            <a:off x="2743200" y="3840480"/>
            <a:ext cx="1005840" cy="274320"/>
          </a:xfrm>
          <a:prstGeom prst="roundRect">
            <a:avLst>
              <a:gd name="adj" fmla="val 50000"/>
            </a:avLst>
          </a:prstGeom>
          <a:solidFill>
            <a:srgbClr val="FFF4DB"/>
          </a:solidFill>
          <a:ln w="12700">
            <a:solidFill>
              <a:srgbClr val="FFF4DB"/>
            </a:solidFill>
            <a:prstDash val="solid"/>
          </a:ln>
        </p:spPr>
      </p:sp>
      <p:sp>
        <p:nvSpPr>
          <p:cNvPr id="17" name="Text 15"/>
          <p:cNvSpPr txBox="1"/>
          <p:nvPr/>
        </p:nvSpPr>
        <p:spPr>
          <a:xfrm>
            <a:off x="2743200" y="3840480"/>
            <a:ext cx="1005840" cy="274320"/>
          </a:xfrm>
          <a:prstGeom prst="rect">
            <a:avLst/>
          </a:prstGeom>
          <a:noFill/>
          <a:ln/>
        </p:spPr>
        <p:txBody>
          <a:bodyPr wrap="square" lIns="0" tIns="0" rIns="0" bIns="0" rtlCol="0" anchor="ctr"/>
          <a:lstStyle/>
          <a:p>
            <a:pPr algn="ctr" indent="0" marL="0">
              <a:buNone/>
            </a:pPr>
            <a:r>
              <a:rPr lang="en-US" sz="1000" b="1" dirty="0">
                <a:solidFill>
                  <a:srgbClr val="A15C00"/>
                </a:solidFill>
              </a:rPr>
              <a:t>Hoy</a:t>
            </a:r>
            <a:endParaRPr lang="en-US" sz="1000" dirty="0"/>
          </a:p>
        </p:txBody>
      </p:sp>
      <p:sp>
        <p:nvSpPr>
          <p:cNvPr id="18" name="Shape 16"/>
          <p:cNvSpPr/>
          <p:nvPr/>
        </p:nvSpPr>
        <p:spPr>
          <a:xfrm>
            <a:off x="4663440" y="1417320"/>
            <a:ext cx="1874520" cy="2926080"/>
          </a:xfrm>
          <a:prstGeom prst="roundRect">
            <a:avLst>
              <a:gd name="adj" fmla="val 6829"/>
            </a:avLst>
          </a:prstGeom>
          <a:solidFill>
            <a:srgbClr val="FFFFFF"/>
          </a:solidFill>
          <a:ln w="12700">
            <a:solidFill>
              <a:srgbClr val="DDE2E7"/>
            </a:solidFill>
            <a:prstDash val="solid"/>
          </a:ln>
        </p:spPr>
      </p:sp>
      <p:sp>
        <p:nvSpPr>
          <p:cNvPr id="19" name="Shape 17"/>
          <p:cNvSpPr/>
          <p:nvPr/>
        </p:nvSpPr>
        <p:spPr>
          <a:xfrm>
            <a:off x="4846320" y="1627632"/>
            <a:ext cx="457200" cy="457200"/>
          </a:xfrm>
          <a:prstGeom prst="ellipse">
            <a:avLst/>
          </a:prstGeom>
          <a:solidFill>
            <a:srgbClr val="04144C"/>
          </a:solidFill>
          <a:ln w="12700">
            <a:solidFill>
              <a:srgbClr val="04144C"/>
            </a:solidFill>
            <a:prstDash val="solid"/>
          </a:ln>
        </p:spPr>
      </p:sp>
      <p:sp>
        <p:nvSpPr>
          <p:cNvPr id="20" name="Text 18"/>
          <p:cNvSpPr txBox="1"/>
          <p:nvPr/>
        </p:nvSpPr>
        <p:spPr>
          <a:xfrm>
            <a:off x="484632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3</a:t>
            </a:r>
            <a:endParaRPr lang="en-US" sz="1600" dirty="0"/>
          </a:p>
        </p:txBody>
      </p:sp>
      <p:sp>
        <p:nvSpPr>
          <p:cNvPr id="21" name="Text 19"/>
          <p:cNvSpPr txBox="1"/>
          <p:nvPr/>
        </p:nvSpPr>
        <p:spPr>
          <a:xfrm>
            <a:off x="4846320" y="2240280"/>
            <a:ext cx="1600200" cy="365760"/>
          </a:xfrm>
          <a:prstGeom prst="rect">
            <a:avLst/>
          </a:prstGeom>
          <a:noFill/>
          <a:ln/>
        </p:spPr>
        <p:txBody>
          <a:bodyPr wrap="square" lIns="0" tIns="0" rIns="0" bIns="0" rtlCol="0" anchor="ctr"/>
          <a:lstStyle/>
          <a:p>
            <a:pPr indent="0" marL="0">
              <a:buNone/>
            </a:pPr>
            <a:r>
              <a:rPr lang="en-US" sz="1500" b="1" dirty="0">
                <a:solidFill>
                  <a:srgbClr val="04144C"/>
                </a:solidFill>
                <a:latin typeface="Montserrat" pitchFamily="34" charset="0"/>
                <a:ea typeface="Montserrat" pitchFamily="34" charset="-122"/>
                <a:cs typeface="Montserrat" pitchFamily="34" charset="-120"/>
              </a:rPr>
              <a:t>Construcción</a:t>
            </a:r>
            <a:endParaRPr lang="en-US" sz="1500" dirty="0"/>
          </a:p>
        </p:txBody>
      </p:sp>
      <p:sp>
        <p:nvSpPr>
          <p:cNvPr id="22" name="Text 20"/>
          <p:cNvSpPr txBox="1"/>
          <p:nvPr/>
        </p:nvSpPr>
        <p:spPr>
          <a:xfrm>
            <a:off x="4846320" y="2651760"/>
            <a:ext cx="1554480" cy="1051560"/>
          </a:xfrm>
          <a:prstGeom prst="rect">
            <a:avLst/>
          </a:prstGeom>
          <a:noFill/>
          <a:ln/>
        </p:spPr>
        <p:txBody>
          <a:bodyPr wrap="square" lIns="0" tIns="0" rIns="0" bIns="0" rtlCol="0" anchor="t"/>
          <a:lstStyle/>
          <a:p>
            <a:pPr indent="0" marL="0">
              <a:buNone/>
            </a:pPr>
            <a:r>
              <a:rPr lang="en-US" sz="1200" dirty="0">
                <a:solidFill>
                  <a:srgbClr val="3A4754"/>
                </a:solidFill>
              </a:rPr>
              <a:t>El sistema de diseño se implementa y se aplica al resto de pantallas</a:t>
            </a:r>
            <a:endParaRPr lang="en-US" sz="1200" dirty="0"/>
          </a:p>
        </p:txBody>
      </p:sp>
      <p:sp>
        <p:nvSpPr>
          <p:cNvPr id="23" name="Shape 21"/>
          <p:cNvSpPr/>
          <p:nvPr/>
        </p:nvSpPr>
        <p:spPr>
          <a:xfrm>
            <a:off x="4846320" y="3840480"/>
            <a:ext cx="1005840" cy="274320"/>
          </a:xfrm>
          <a:prstGeom prst="roundRect">
            <a:avLst>
              <a:gd name="adj" fmla="val 50000"/>
            </a:avLst>
          </a:prstGeom>
          <a:solidFill>
            <a:srgbClr val="E4F5FD"/>
          </a:solidFill>
          <a:ln w="12700">
            <a:solidFill>
              <a:srgbClr val="E4F5FD"/>
            </a:solidFill>
            <a:prstDash val="solid"/>
          </a:ln>
        </p:spPr>
      </p:sp>
      <p:sp>
        <p:nvSpPr>
          <p:cNvPr id="24" name="Text 22"/>
          <p:cNvSpPr txBox="1"/>
          <p:nvPr/>
        </p:nvSpPr>
        <p:spPr>
          <a:xfrm>
            <a:off x="4846320" y="3840480"/>
            <a:ext cx="1005840" cy="274320"/>
          </a:xfrm>
          <a:prstGeom prst="rect">
            <a:avLst/>
          </a:prstGeom>
          <a:noFill/>
          <a:ln/>
        </p:spPr>
        <p:txBody>
          <a:bodyPr wrap="square" lIns="0" tIns="0" rIns="0" bIns="0" rtlCol="0" anchor="ctr"/>
          <a:lstStyle/>
          <a:p>
            <a:pPr algn="ctr" indent="0" marL="0">
              <a:buNone/>
            </a:pPr>
            <a:r>
              <a:rPr lang="en-US" sz="1000" b="1" dirty="0">
                <a:solidFill>
                  <a:srgbClr val="033B97"/>
                </a:solidFill>
              </a:rPr>
              <a:t>Fase 6</a:t>
            </a:r>
            <a:endParaRPr lang="en-US" sz="1000" dirty="0"/>
          </a:p>
        </p:txBody>
      </p:sp>
      <p:sp>
        <p:nvSpPr>
          <p:cNvPr id="25" name="Shape 23"/>
          <p:cNvSpPr/>
          <p:nvPr/>
        </p:nvSpPr>
        <p:spPr>
          <a:xfrm>
            <a:off x="6766560" y="1417320"/>
            <a:ext cx="1874520" cy="2926080"/>
          </a:xfrm>
          <a:prstGeom prst="roundRect">
            <a:avLst>
              <a:gd name="adj" fmla="val 6829"/>
            </a:avLst>
          </a:prstGeom>
          <a:solidFill>
            <a:srgbClr val="FFFFFF"/>
          </a:solidFill>
          <a:ln w="12700">
            <a:solidFill>
              <a:srgbClr val="DDE2E7"/>
            </a:solidFill>
            <a:prstDash val="solid"/>
          </a:ln>
        </p:spPr>
      </p:sp>
      <p:sp>
        <p:nvSpPr>
          <p:cNvPr id="26" name="Shape 24"/>
          <p:cNvSpPr/>
          <p:nvPr/>
        </p:nvSpPr>
        <p:spPr>
          <a:xfrm>
            <a:off x="6949440" y="1627632"/>
            <a:ext cx="457200" cy="457200"/>
          </a:xfrm>
          <a:prstGeom prst="ellipse">
            <a:avLst/>
          </a:prstGeom>
          <a:solidFill>
            <a:srgbClr val="04144C"/>
          </a:solidFill>
          <a:ln w="12700">
            <a:solidFill>
              <a:srgbClr val="04144C"/>
            </a:solidFill>
            <a:prstDash val="solid"/>
          </a:ln>
        </p:spPr>
      </p:sp>
      <p:sp>
        <p:nvSpPr>
          <p:cNvPr id="27" name="Text 25"/>
          <p:cNvSpPr txBox="1"/>
          <p:nvPr/>
        </p:nvSpPr>
        <p:spPr>
          <a:xfrm>
            <a:off x="6949440" y="1627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4</a:t>
            </a:r>
            <a:endParaRPr lang="en-US" sz="1600" dirty="0"/>
          </a:p>
        </p:txBody>
      </p:sp>
      <p:sp>
        <p:nvSpPr>
          <p:cNvPr id="28" name="Text 26"/>
          <p:cNvSpPr txBox="1"/>
          <p:nvPr/>
        </p:nvSpPr>
        <p:spPr>
          <a:xfrm>
            <a:off x="6949440" y="2240280"/>
            <a:ext cx="1600200" cy="365760"/>
          </a:xfrm>
          <a:prstGeom prst="rect">
            <a:avLst/>
          </a:prstGeom>
          <a:noFill/>
          <a:ln/>
        </p:spPr>
        <p:txBody>
          <a:bodyPr wrap="square" lIns="0" tIns="0" rIns="0" bIns="0" rtlCol="0" anchor="ctr"/>
          <a:lstStyle/>
          <a:p>
            <a:pPr indent="0" marL="0">
              <a:buNone/>
            </a:pPr>
            <a:r>
              <a:rPr lang="en-US" sz="1500" b="1" dirty="0">
                <a:solidFill>
                  <a:srgbClr val="04144C"/>
                </a:solidFill>
                <a:latin typeface="Montserrat" pitchFamily="34" charset="0"/>
                <a:ea typeface="Montserrat" pitchFamily="34" charset="-122"/>
                <a:cs typeface="Montserrat" pitchFamily="34" charset="-120"/>
              </a:rPr>
              <a:t>Firma final</a:t>
            </a:r>
            <a:endParaRPr lang="en-US" sz="1500" dirty="0"/>
          </a:p>
        </p:txBody>
      </p:sp>
      <p:sp>
        <p:nvSpPr>
          <p:cNvPr id="29" name="Text 27"/>
          <p:cNvSpPr txBox="1"/>
          <p:nvPr/>
        </p:nvSpPr>
        <p:spPr>
          <a:xfrm>
            <a:off x="6949440" y="2651760"/>
            <a:ext cx="1554480" cy="1051560"/>
          </a:xfrm>
          <a:prstGeom prst="rect">
            <a:avLst/>
          </a:prstGeom>
          <a:noFill/>
          <a:ln/>
        </p:spPr>
        <p:txBody>
          <a:bodyPr wrap="square" lIns="0" tIns="0" rIns="0" bIns="0" rtlCol="0" anchor="t"/>
          <a:lstStyle/>
          <a:p>
            <a:pPr indent="0" marL="0">
              <a:buNone/>
            </a:pPr>
            <a:r>
              <a:rPr lang="en-US" sz="1200" dirty="0">
                <a:solidFill>
                  <a:srgbClr val="3A4754"/>
                </a:solidFill>
              </a:rPr>
              <a:t>Revisión de pantallas terminadas y firma de cierre de la fase</a:t>
            </a:r>
            <a:endParaRPr lang="en-US" sz="1200" dirty="0"/>
          </a:p>
        </p:txBody>
      </p:sp>
      <p:sp>
        <p:nvSpPr>
          <p:cNvPr id="30" name="Shape 28"/>
          <p:cNvSpPr/>
          <p:nvPr/>
        </p:nvSpPr>
        <p:spPr>
          <a:xfrm>
            <a:off x="6949440" y="3840480"/>
            <a:ext cx="1005840" cy="274320"/>
          </a:xfrm>
          <a:prstGeom prst="roundRect">
            <a:avLst>
              <a:gd name="adj" fmla="val 50000"/>
            </a:avLst>
          </a:prstGeom>
          <a:solidFill>
            <a:srgbClr val="E4F5FD"/>
          </a:solidFill>
          <a:ln w="12700">
            <a:solidFill>
              <a:srgbClr val="E4F5FD"/>
            </a:solidFill>
            <a:prstDash val="solid"/>
          </a:ln>
        </p:spPr>
      </p:sp>
      <p:sp>
        <p:nvSpPr>
          <p:cNvPr id="31" name="Text 29"/>
          <p:cNvSpPr txBox="1"/>
          <p:nvPr/>
        </p:nvSpPr>
        <p:spPr>
          <a:xfrm>
            <a:off x="6949440" y="3840480"/>
            <a:ext cx="1005840" cy="274320"/>
          </a:xfrm>
          <a:prstGeom prst="rect">
            <a:avLst/>
          </a:prstGeom>
          <a:noFill/>
          <a:ln/>
        </p:spPr>
        <p:txBody>
          <a:bodyPr wrap="square" lIns="0" tIns="0" rIns="0" bIns="0" rtlCol="0" anchor="ctr"/>
          <a:lstStyle/>
          <a:p>
            <a:pPr algn="ctr" indent="0" marL="0">
              <a:buNone/>
            </a:pPr>
            <a:r>
              <a:rPr lang="en-US" sz="1000" b="1" dirty="0">
                <a:solidFill>
                  <a:srgbClr val="033B97"/>
                </a:solidFill>
              </a:rPr>
              <a:t>Cierre F6</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822960"/>
          </a:xfrm>
          <a:prstGeom prst="rect">
            <a:avLst/>
          </a:prstGeom>
          <a:noFill/>
          <a:ln/>
        </p:spPr>
        <p:txBody>
          <a:bodyPr wrap="square" lIns="0" tIns="0" rIns="0" bIns="0" rtlCol="0"/>
          <a:lstStyle/>
          <a:p>
            <a:pPr algn="l" indent="0" marL="0">
              <a:buNone/>
            </a:pPr>
            <a:r>
              <a:rPr lang="en-US" sz="3400" b="1" dirty="0">
                <a:solidFill>
                  <a:srgbClr val="FFFFFF"/>
                </a:solidFill>
                <a:latin typeface="Montserrat" pitchFamily="34" charset="0"/>
                <a:ea typeface="Montserrat" pitchFamily="34" charset="-122"/>
                <a:cs typeface="Montserrat" pitchFamily="34" charset="-120"/>
              </a:rPr>
              <a:t>Fundamentos visuales</a:t>
            </a:r>
            <a:endParaRPr lang="en-US" sz="3400" dirty="0"/>
          </a:p>
        </p:txBody>
      </p:sp>
      <p:sp>
        <p:nvSpPr>
          <p:cNvPr id="3" name="Text 0"/>
          <p:cNvSpPr/>
          <p:nvPr>
            <p:ph idx="101" type="body" hasCustomPrompt="1"/>
          </p:nvPr>
        </p:nvSpPr>
        <p:spPr>
          <a:xfrm>
            <a:off x="548640" y="2697480"/>
            <a:ext cx="7680960" cy="731520"/>
          </a:xfrm>
          <a:prstGeom prst="rect">
            <a:avLst/>
          </a:prstGeom>
          <a:noFill/>
          <a:ln/>
        </p:spPr>
        <p:txBody>
          <a:bodyPr wrap="square" lIns="0" tIns="0" rIns="0" bIns="0" rtlCol="0" anchor="t"/>
          <a:lstStyle/>
          <a:p>
            <a:pPr algn="l" indent="0" marL="0">
              <a:buNone/>
            </a:pPr>
            <a:r>
              <a:rPr lang="en-US" sz="1600" dirty="0">
                <a:solidFill>
                  <a:srgbClr val="9CD5EF"/>
                </a:solidFill>
              </a:rPr>
              <a:t>Paleta de colores, tipografía y componentes base propuestos</a:t>
            </a:r>
            <a:endParaRPr lang="en-US" sz="16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CD5E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Paleta de marca propuesta</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Cuatro anclajes tomados de las referencias de marca ICE24; los tonos intermedios y de estado los complementan</a:t>
            </a:r>
            <a:endParaRPr lang="en-US" sz="1200" dirty="0"/>
          </a:p>
        </p:txBody>
      </p:sp>
      <p:sp>
        <p:nvSpPr>
          <p:cNvPr id="4" name="Shape 2"/>
          <p:cNvSpPr/>
          <p:nvPr/>
        </p:nvSpPr>
        <p:spPr>
          <a:xfrm>
            <a:off x="457200" y="1234440"/>
            <a:ext cx="1874520" cy="1417320"/>
          </a:xfrm>
          <a:prstGeom prst="roundRect">
            <a:avLst>
              <a:gd name="adj" fmla="val 7742"/>
            </a:avLst>
          </a:prstGeom>
          <a:solidFill>
            <a:srgbClr val="04144C"/>
          </a:solidFill>
          <a:ln w="12700">
            <a:solidFill>
              <a:srgbClr val="04144C"/>
            </a:solidFill>
            <a:prstDash val="solid"/>
          </a:ln>
        </p:spPr>
      </p:sp>
      <p:sp>
        <p:nvSpPr>
          <p:cNvPr id="5" name="Text 3"/>
          <p:cNvSpPr txBox="1"/>
          <p:nvPr/>
        </p:nvSpPr>
        <p:spPr>
          <a:xfrm>
            <a:off x="621792" y="2011680"/>
            <a:ext cx="1600200" cy="548640"/>
          </a:xfrm>
          <a:prstGeom prst="rect">
            <a:avLst/>
          </a:prstGeom>
          <a:noFill/>
          <a:ln/>
        </p:spPr>
        <p:txBody>
          <a:bodyPr wrap="square" lIns="0" tIns="0" rIns="0" bIns="0" rtlCol="0" anchor="b"/>
          <a:lstStyle/>
          <a:p>
            <a:pPr indent="0" marL="0">
              <a:buNone/>
            </a:pPr>
            <a:r>
              <a:rPr lang="en-US" sz="1400" b="1" dirty="0">
                <a:solidFill>
                  <a:srgbClr val="FFFFFF"/>
                </a:solidFill>
              </a:rPr>
              <a:t>Azul noche</a:t>
            </a:r>
            <a:endParaRPr lang="en-US" sz="1400" dirty="0"/>
          </a:p>
          <a:p>
            <a:pPr indent="0" marL="0">
              <a:buNone/>
            </a:pPr>
            <a:r>
              <a:rPr lang="en-US" sz="1100" dirty="0">
                <a:solidFill>
                  <a:srgbClr val="FFFFFF"/>
                </a:solidFill>
              </a:rPr>
              <a:t>#04144C</a:t>
            </a:r>
            <a:endParaRPr lang="en-US" sz="1400" dirty="0"/>
          </a:p>
        </p:txBody>
      </p:sp>
      <p:sp>
        <p:nvSpPr>
          <p:cNvPr id="6" name="Text 4"/>
          <p:cNvSpPr txBox="1"/>
          <p:nvPr/>
        </p:nvSpPr>
        <p:spPr>
          <a:xfrm>
            <a:off x="457200" y="2715768"/>
            <a:ext cx="1874520" cy="274320"/>
          </a:xfrm>
          <a:prstGeom prst="rect">
            <a:avLst/>
          </a:prstGeom>
          <a:noFill/>
          <a:ln/>
        </p:spPr>
        <p:txBody>
          <a:bodyPr wrap="square" lIns="0" tIns="0" rIns="0" bIns="0" rtlCol="0" anchor="ctr"/>
          <a:lstStyle/>
          <a:p>
            <a:pPr indent="0" marL="0">
              <a:buNone/>
            </a:pPr>
            <a:r>
              <a:rPr lang="en-US" sz="1100" dirty="0">
                <a:solidFill>
                  <a:srgbClr val="3A4754"/>
                </a:solidFill>
              </a:rPr>
              <a:t>Navegación y encabezados</a:t>
            </a:r>
            <a:endParaRPr lang="en-US" sz="1100" dirty="0"/>
          </a:p>
        </p:txBody>
      </p:sp>
      <p:sp>
        <p:nvSpPr>
          <p:cNvPr id="7" name="Shape 5"/>
          <p:cNvSpPr/>
          <p:nvPr/>
        </p:nvSpPr>
        <p:spPr>
          <a:xfrm>
            <a:off x="2560320" y="1234440"/>
            <a:ext cx="1874520" cy="1417320"/>
          </a:xfrm>
          <a:prstGeom prst="roundRect">
            <a:avLst>
              <a:gd name="adj" fmla="val 7742"/>
            </a:avLst>
          </a:prstGeom>
          <a:solidFill>
            <a:srgbClr val="0455C4"/>
          </a:solidFill>
          <a:ln w="12700">
            <a:solidFill>
              <a:srgbClr val="0455C4"/>
            </a:solidFill>
            <a:prstDash val="solid"/>
          </a:ln>
        </p:spPr>
      </p:sp>
      <p:sp>
        <p:nvSpPr>
          <p:cNvPr id="8" name="Text 6"/>
          <p:cNvSpPr txBox="1"/>
          <p:nvPr/>
        </p:nvSpPr>
        <p:spPr>
          <a:xfrm>
            <a:off x="2724912" y="2011680"/>
            <a:ext cx="1600200" cy="548640"/>
          </a:xfrm>
          <a:prstGeom prst="rect">
            <a:avLst/>
          </a:prstGeom>
          <a:noFill/>
          <a:ln/>
        </p:spPr>
        <p:txBody>
          <a:bodyPr wrap="square" lIns="0" tIns="0" rIns="0" bIns="0" rtlCol="0" anchor="b"/>
          <a:lstStyle/>
          <a:p>
            <a:pPr indent="0" marL="0">
              <a:buNone/>
            </a:pPr>
            <a:r>
              <a:rPr lang="en-US" sz="1400" b="1" dirty="0">
                <a:solidFill>
                  <a:srgbClr val="FFFFFF"/>
                </a:solidFill>
              </a:rPr>
              <a:t>Azul de acción</a:t>
            </a:r>
            <a:endParaRPr lang="en-US" sz="1400" dirty="0"/>
          </a:p>
          <a:p>
            <a:pPr indent="0" marL="0">
              <a:buNone/>
            </a:pPr>
            <a:r>
              <a:rPr lang="en-US" sz="1100" dirty="0">
                <a:solidFill>
                  <a:srgbClr val="FFFFFF"/>
                </a:solidFill>
              </a:rPr>
              <a:t>#0455C4</a:t>
            </a:r>
            <a:endParaRPr lang="en-US" sz="1400" dirty="0"/>
          </a:p>
        </p:txBody>
      </p:sp>
      <p:sp>
        <p:nvSpPr>
          <p:cNvPr id="9" name="Text 7"/>
          <p:cNvSpPr txBox="1"/>
          <p:nvPr/>
        </p:nvSpPr>
        <p:spPr>
          <a:xfrm>
            <a:off x="2560320" y="2715768"/>
            <a:ext cx="1874520" cy="274320"/>
          </a:xfrm>
          <a:prstGeom prst="rect">
            <a:avLst/>
          </a:prstGeom>
          <a:noFill/>
          <a:ln/>
        </p:spPr>
        <p:txBody>
          <a:bodyPr wrap="square" lIns="0" tIns="0" rIns="0" bIns="0" rtlCol="0" anchor="ctr"/>
          <a:lstStyle/>
          <a:p>
            <a:pPr indent="0" marL="0">
              <a:buNone/>
            </a:pPr>
            <a:r>
              <a:rPr lang="en-US" sz="1100" dirty="0">
                <a:solidFill>
                  <a:srgbClr val="3A4754"/>
                </a:solidFill>
              </a:rPr>
              <a:t>Botones, enlaces y foco</a:t>
            </a:r>
            <a:endParaRPr lang="en-US" sz="1100" dirty="0"/>
          </a:p>
        </p:txBody>
      </p:sp>
      <p:sp>
        <p:nvSpPr>
          <p:cNvPr id="10" name="Shape 8"/>
          <p:cNvSpPr/>
          <p:nvPr/>
        </p:nvSpPr>
        <p:spPr>
          <a:xfrm>
            <a:off x="4663440" y="1234440"/>
            <a:ext cx="1874520" cy="1417320"/>
          </a:xfrm>
          <a:prstGeom prst="roundRect">
            <a:avLst>
              <a:gd name="adj" fmla="val 7742"/>
            </a:avLst>
          </a:prstGeom>
          <a:solidFill>
            <a:srgbClr val="9CD5EF"/>
          </a:solidFill>
          <a:ln w="12700">
            <a:solidFill>
              <a:srgbClr val="9CD5EF"/>
            </a:solidFill>
            <a:prstDash val="solid"/>
          </a:ln>
        </p:spPr>
      </p:sp>
      <p:sp>
        <p:nvSpPr>
          <p:cNvPr id="11" name="Text 9"/>
          <p:cNvSpPr txBox="1"/>
          <p:nvPr/>
        </p:nvSpPr>
        <p:spPr>
          <a:xfrm>
            <a:off x="4828032" y="2011680"/>
            <a:ext cx="1600200" cy="548640"/>
          </a:xfrm>
          <a:prstGeom prst="rect">
            <a:avLst/>
          </a:prstGeom>
          <a:noFill/>
          <a:ln/>
        </p:spPr>
        <p:txBody>
          <a:bodyPr wrap="square" lIns="0" tIns="0" rIns="0" bIns="0" rtlCol="0" anchor="b"/>
          <a:lstStyle/>
          <a:p>
            <a:pPr indent="0" marL="0">
              <a:buNone/>
            </a:pPr>
            <a:r>
              <a:rPr lang="en-US" sz="1400" b="1" dirty="0">
                <a:solidFill>
                  <a:srgbClr val="04144C"/>
                </a:solidFill>
              </a:rPr>
              <a:t>Celeste hielo</a:t>
            </a:r>
            <a:endParaRPr lang="en-US" sz="1400" dirty="0"/>
          </a:p>
          <a:p>
            <a:pPr indent="0" marL="0">
              <a:buNone/>
            </a:pPr>
            <a:r>
              <a:rPr lang="en-US" sz="1100" dirty="0">
                <a:solidFill>
                  <a:srgbClr val="04144C"/>
                </a:solidFill>
              </a:rPr>
              <a:t>#9CD5EF</a:t>
            </a:r>
            <a:endParaRPr lang="en-US" sz="1400" dirty="0"/>
          </a:p>
        </p:txBody>
      </p:sp>
      <p:sp>
        <p:nvSpPr>
          <p:cNvPr id="12" name="Text 10"/>
          <p:cNvSpPr txBox="1"/>
          <p:nvPr/>
        </p:nvSpPr>
        <p:spPr>
          <a:xfrm>
            <a:off x="4663440" y="2715768"/>
            <a:ext cx="1874520" cy="274320"/>
          </a:xfrm>
          <a:prstGeom prst="rect">
            <a:avLst/>
          </a:prstGeom>
          <a:noFill/>
          <a:ln/>
        </p:spPr>
        <p:txBody>
          <a:bodyPr wrap="square" lIns="0" tIns="0" rIns="0" bIns="0" rtlCol="0" anchor="ctr"/>
          <a:lstStyle/>
          <a:p>
            <a:pPr indent="0" marL="0">
              <a:buNone/>
            </a:pPr>
            <a:r>
              <a:rPr lang="en-US" sz="1100" dirty="0">
                <a:solidFill>
                  <a:srgbClr val="3A4754"/>
                </a:solidFill>
              </a:rPr>
              <a:t>Superficies destacadas</a:t>
            </a:r>
            <a:endParaRPr lang="en-US" sz="1100" dirty="0"/>
          </a:p>
        </p:txBody>
      </p:sp>
      <p:sp>
        <p:nvSpPr>
          <p:cNvPr id="13" name="Shape 11"/>
          <p:cNvSpPr/>
          <p:nvPr/>
        </p:nvSpPr>
        <p:spPr>
          <a:xfrm>
            <a:off x="6766560" y="1234440"/>
            <a:ext cx="1874520" cy="1417320"/>
          </a:xfrm>
          <a:prstGeom prst="roundRect">
            <a:avLst>
              <a:gd name="adj" fmla="val 7742"/>
            </a:avLst>
          </a:prstGeom>
          <a:solidFill>
            <a:srgbClr val="FFFFFF"/>
          </a:solidFill>
          <a:ln w="12700">
            <a:solidFill>
              <a:srgbClr val="DDE2E7"/>
            </a:solidFill>
            <a:prstDash val="solid"/>
          </a:ln>
        </p:spPr>
      </p:sp>
      <p:sp>
        <p:nvSpPr>
          <p:cNvPr id="14" name="Text 12"/>
          <p:cNvSpPr txBox="1"/>
          <p:nvPr/>
        </p:nvSpPr>
        <p:spPr>
          <a:xfrm>
            <a:off x="6931152" y="2011680"/>
            <a:ext cx="1600200" cy="548640"/>
          </a:xfrm>
          <a:prstGeom prst="rect">
            <a:avLst/>
          </a:prstGeom>
          <a:noFill/>
          <a:ln/>
        </p:spPr>
        <p:txBody>
          <a:bodyPr wrap="square" lIns="0" tIns="0" rIns="0" bIns="0" rtlCol="0" anchor="b"/>
          <a:lstStyle/>
          <a:p>
            <a:pPr indent="0" marL="0">
              <a:buNone/>
            </a:pPr>
            <a:r>
              <a:rPr lang="en-US" sz="1400" b="1" dirty="0">
                <a:solidFill>
                  <a:srgbClr val="04144C"/>
                </a:solidFill>
              </a:rPr>
              <a:t>Blanco</a:t>
            </a:r>
            <a:endParaRPr lang="en-US" sz="1400" dirty="0"/>
          </a:p>
          <a:p>
            <a:pPr indent="0" marL="0">
              <a:buNone/>
            </a:pPr>
            <a:r>
              <a:rPr lang="en-US" sz="1100" dirty="0">
                <a:solidFill>
                  <a:srgbClr val="04144C"/>
                </a:solidFill>
              </a:rPr>
              <a:t>#FFFFFF</a:t>
            </a:r>
            <a:endParaRPr lang="en-US" sz="1400" dirty="0"/>
          </a:p>
        </p:txBody>
      </p:sp>
      <p:sp>
        <p:nvSpPr>
          <p:cNvPr id="15" name="Text 13"/>
          <p:cNvSpPr txBox="1"/>
          <p:nvPr/>
        </p:nvSpPr>
        <p:spPr>
          <a:xfrm>
            <a:off x="6766560" y="2715768"/>
            <a:ext cx="1874520" cy="274320"/>
          </a:xfrm>
          <a:prstGeom prst="rect">
            <a:avLst/>
          </a:prstGeom>
          <a:noFill/>
          <a:ln/>
        </p:spPr>
        <p:txBody>
          <a:bodyPr wrap="square" lIns="0" tIns="0" rIns="0" bIns="0" rtlCol="0" anchor="ctr"/>
          <a:lstStyle/>
          <a:p>
            <a:pPr indent="0" marL="0">
              <a:buNone/>
            </a:pPr>
            <a:r>
              <a:rPr lang="en-US" sz="1100" dirty="0">
                <a:solidFill>
                  <a:srgbClr val="3A4754"/>
                </a:solidFill>
              </a:rPr>
              <a:t>Fondos y tarjetas</a:t>
            </a:r>
            <a:endParaRPr lang="en-US" sz="1100" dirty="0"/>
          </a:p>
        </p:txBody>
      </p:sp>
      <p:sp>
        <p:nvSpPr>
          <p:cNvPr id="16" name="Text 14"/>
          <p:cNvSpPr txBox="1"/>
          <p:nvPr/>
        </p:nvSpPr>
        <p:spPr>
          <a:xfrm>
            <a:off x="457200" y="3154680"/>
            <a:ext cx="3657600" cy="274320"/>
          </a:xfrm>
          <a:prstGeom prst="rect">
            <a:avLst/>
          </a:prstGeom>
          <a:noFill/>
          <a:ln/>
        </p:spPr>
        <p:txBody>
          <a:bodyPr wrap="square" lIns="0" tIns="0" rIns="0" bIns="0" rtlCol="0" anchor="ctr"/>
          <a:lstStyle/>
          <a:p>
            <a:pPr indent="0" marL="0">
              <a:buNone/>
            </a:pPr>
            <a:r>
              <a:rPr lang="en-US" sz="1300" b="1" dirty="0">
                <a:solidFill>
                  <a:srgbClr val="04144C"/>
                </a:solidFill>
                <a:latin typeface="Montserrat" pitchFamily="34" charset="0"/>
                <a:ea typeface="Montserrat" pitchFamily="34" charset="-122"/>
                <a:cs typeface="Montserrat" pitchFamily="34" charset="-120"/>
              </a:rPr>
              <a:t>Colores de estado</a:t>
            </a:r>
            <a:endParaRPr lang="en-US" sz="1300" dirty="0"/>
          </a:p>
        </p:txBody>
      </p:sp>
      <p:sp>
        <p:nvSpPr>
          <p:cNvPr id="17" name="Shape 15"/>
          <p:cNvSpPr/>
          <p:nvPr/>
        </p:nvSpPr>
        <p:spPr>
          <a:xfrm>
            <a:off x="457200" y="3493008"/>
            <a:ext cx="1078992" cy="384048"/>
          </a:xfrm>
          <a:prstGeom prst="roundRect">
            <a:avLst>
              <a:gd name="adj" fmla="val 50000"/>
            </a:avLst>
          </a:prstGeom>
          <a:solidFill>
            <a:srgbClr val="E8F6EF"/>
          </a:solidFill>
          <a:ln w="12700">
            <a:solidFill>
              <a:srgbClr val="16794D"/>
            </a:solidFill>
            <a:prstDash val="solid"/>
          </a:ln>
        </p:spPr>
      </p:sp>
      <p:sp>
        <p:nvSpPr>
          <p:cNvPr id="18" name="Text 16"/>
          <p:cNvSpPr txBox="1"/>
          <p:nvPr/>
        </p:nvSpPr>
        <p:spPr>
          <a:xfrm>
            <a:off x="457200" y="3493008"/>
            <a:ext cx="1078992" cy="384048"/>
          </a:xfrm>
          <a:prstGeom prst="rect">
            <a:avLst/>
          </a:prstGeom>
          <a:noFill/>
          <a:ln/>
        </p:spPr>
        <p:txBody>
          <a:bodyPr wrap="square" lIns="0" tIns="0" rIns="0" bIns="0" rtlCol="0" anchor="ctr"/>
          <a:lstStyle/>
          <a:p>
            <a:pPr algn="ctr" indent="0" marL="0">
              <a:buNone/>
            </a:pPr>
            <a:r>
              <a:rPr lang="en-US" sz="1000" b="1" dirty="0">
                <a:solidFill>
                  <a:srgbClr val="16794D"/>
                </a:solidFill>
              </a:rPr>
              <a:t>Éxito</a:t>
            </a:r>
            <a:endParaRPr lang="en-US" sz="1000" dirty="0"/>
          </a:p>
        </p:txBody>
      </p:sp>
      <p:sp>
        <p:nvSpPr>
          <p:cNvPr id="19" name="Shape 17"/>
          <p:cNvSpPr/>
          <p:nvPr/>
        </p:nvSpPr>
        <p:spPr>
          <a:xfrm>
            <a:off x="1645920" y="3493008"/>
            <a:ext cx="1078992" cy="384048"/>
          </a:xfrm>
          <a:prstGeom prst="roundRect">
            <a:avLst>
              <a:gd name="adj" fmla="val 50000"/>
            </a:avLst>
          </a:prstGeom>
          <a:solidFill>
            <a:srgbClr val="FFF4DB"/>
          </a:solidFill>
          <a:ln w="12700">
            <a:solidFill>
              <a:srgbClr val="A15C00"/>
            </a:solidFill>
            <a:prstDash val="solid"/>
          </a:ln>
        </p:spPr>
      </p:sp>
      <p:sp>
        <p:nvSpPr>
          <p:cNvPr id="20" name="Text 18"/>
          <p:cNvSpPr txBox="1"/>
          <p:nvPr/>
        </p:nvSpPr>
        <p:spPr>
          <a:xfrm>
            <a:off x="1645920" y="3493008"/>
            <a:ext cx="1078992" cy="384048"/>
          </a:xfrm>
          <a:prstGeom prst="rect">
            <a:avLst/>
          </a:prstGeom>
          <a:noFill/>
          <a:ln/>
        </p:spPr>
        <p:txBody>
          <a:bodyPr wrap="square" lIns="0" tIns="0" rIns="0" bIns="0" rtlCol="0" anchor="ctr"/>
          <a:lstStyle/>
          <a:p>
            <a:pPr algn="ctr" indent="0" marL="0">
              <a:buNone/>
            </a:pPr>
            <a:r>
              <a:rPr lang="en-US" sz="1000" b="1" dirty="0">
                <a:solidFill>
                  <a:srgbClr val="A15C00"/>
                </a:solidFill>
              </a:rPr>
              <a:t>Advertencia</a:t>
            </a:r>
            <a:endParaRPr lang="en-US" sz="1000" dirty="0"/>
          </a:p>
        </p:txBody>
      </p:sp>
      <p:sp>
        <p:nvSpPr>
          <p:cNvPr id="21" name="Shape 19"/>
          <p:cNvSpPr/>
          <p:nvPr/>
        </p:nvSpPr>
        <p:spPr>
          <a:xfrm>
            <a:off x="2834640" y="3493008"/>
            <a:ext cx="1078992" cy="384048"/>
          </a:xfrm>
          <a:prstGeom prst="roundRect">
            <a:avLst>
              <a:gd name="adj" fmla="val 50000"/>
            </a:avLst>
          </a:prstGeom>
          <a:solidFill>
            <a:srgbClr val="FDECEA"/>
          </a:solidFill>
          <a:ln w="12700">
            <a:solidFill>
              <a:srgbClr val="B42318"/>
            </a:solidFill>
            <a:prstDash val="solid"/>
          </a:ln>
        </p:spPr>
      </p:sp>
      <p:sp>
        <p:nvSpPr>
          <p:cNvPr id="22" name="Text 20"/>
          <p:cNvSpPr txBox="1"/>
          <p:nvPr/>
        </p:nvSpPr>
        <p:spPr>
          <a:xfrm>
            <a:off x="2834640" y="3493008"/>
            <a:ext cx="1078992" cy="384048"/>
          </a:xfrm>
          <a:prstGeom prst="rect">
            <a:avLst/>
          </a:prstGeom>
          <a:noFill/>
          <a:ln/>
        </p:spPr>
        <p:txBody>
          <a:bodyPr wrap="square" lIns="0" tIns="0" rIns="0" bIns="0" rtlCol="0" anchor="ctr"/>
          <a:lstStyle/>
          <a:p>
            <a:pPr algn="ctr" indent="0" marL="0">
              <a:buNone/>
            </a:pPr>
            <a:r>
              <a:rPr lang="en-US" sz="1000" b="1" dirty="0">
                <a:solidFill>
                  <a:srgbClr val="B42318"/>
                </a:solidFill>
              </a:rPr>
              <a:t>Crítico</a:t>
            </a:r>
            <a:endParaRPr lang="en-US" sz="1000" dirty="0"/>
          </a:p>
        </p:txBody>
      </p:sp>
      <p:sp>
        <p:nvSpPr>
          <p:cNvPr id="23" name="Shape 21"/>
          <p:cNvSpPr/>
          <p:nvPr/>
        </p:nvSpPr>
        <p:spPr>
          <a:xfrm>
            <a:off x="4023360" y="3493008"/>
            <a:ext cx="1078992" cy="384048"/>
          </a:xfrm>
          <a:prstGeom prst="roundRect">
            <a:avLst>
              <a:gd name="adj" fmla="val 50000"/>
            </a:avLst>
          </a:prstGeom>
          <a:solidFill>
            <a:srgbClr val="EAF4FC"/>
          </a:solidFill>
          <a:ln w="12700">
            <a:solidFill>
              <a:srgbClr val="1769AA"/>
            </a:solidFill>
            <a:prstDash val="solid"/>
          </a:ln>
        </p:spPr>
      </p:sp>
      <p:sp>
        <p:nvSpPr>
          <p:cNvPr id="24" name="Text 22"/>
          <p:cNvSpPr txBox="1"/>
          <p:nvPr/>
        </p:nvSpPr>
        <p:spPr>
          <a:xfrm>
            <a:off x="4023360" y="3493008"/>
            <a:ext cx="1078992" cy="384048"/>
          </a:xfrm>
          <a:prstGeom prst="rect">
            <a:avLst/>
          </a:prstGeom>
          <a:noFill/>
          <a:ln/>
        </p:spPr>
        <p:txBody>
          <a:bodyPr wrap="square" lIns="0" tIns="0" rIns="0" bIns="0" rtlCol="0" anchor="ctr"/>
          <a:lstStyle/>
          <a:p>
            <a:pPr algn="ctr" indent="0" marL="0">
              <a:buNone/>
            </a:pPr>
            <a:r>
              <a:rPr lang="en-US" sz="1000" b="1" dirty="0">
                <a:solidFill>
                  <a:srgbClr val="1769AA"/>
                </a:solidFill>
              </a:rPr>
              <a:t>Información</a:t>
            </a:r>
            <a:endParaRPr lang="en-US" sz="1000" dirty="0"/>
          </a:p>
        </p:txBody>
      </p:sp>
      <p:sp>
        <p:nvSpPr>
          <p:cNvPr id="25" name="Shape 23"/>
          <p:cNvSpPr/>
          <p:nvPr/>
        </p:nvSpPr>
        <p:spPr>
          <a:xfrm>
            <a:off x="5212080" y="3493008"/>
            <a:ext cx="1078992" cy="384048"/>
          </a:xfrm>
          <a:prstGeom prst="roundRect">
            <a:avLst>
              <a:gd name="adj" fmla="val 50000"/>
            </a:avLst>
          </a:prstGeom>
          <a:solidFill>
            <a:srgbClr val="F1F3F5"/>
          </a:solidFill>
          <a:ln w="12700">
            <a:solidFill>
              <a:srgbClr val="59636E"/>
            </a:solidFill>
            <a:prstDash val="solid"/>
          </a:ln>
        </p:spPr>
      </p:sp>
      <p:sp>
        <p:nvSpPr>
          <p:cNvPr id="26" name="Text 24"/>
          <p:cNvSpPr txBox="1"/>
          <p:nvPr/>
        </p:nvSpPr>
        <p:spPr>
          <a:xfrm>
            <a:off x="5212080" y="3493008"/>
            <a:ext cx="1078992" cy="384048"/>
          </a:xfrm>
          <a:prstGeom prst="rect">
            <a:avLst/>
          </a:prstGeom>
          <a:noFill/>
          <a:ln/>
        </p:spPr>
        <p:txBody>
          <a:bodyPr wrap="square" lIns="0" tIns="0" rIns="0" bIns="0" rtlCol="0" anchor="ctr"/>
          <a:lstStyle/>
          <a:p>
            <a:pPr algn="ctr" indent="0" marL="0">
              <a:buNone/>
            </a:pPr>
            <a:r>
              <a:rPr lang="en-US" sz="1000" b="1" dirty="0">
                <a:solidFill>
                  <a:srgbClr val="59636E"/>
                </a:solidFill>
              </a:rPr>
              <a:t>Sin datos</a:t>
            </a:r>
            <a:endParaRPr lang="en-US" sz="1000" dirty="0"/>
          </a:p>
        </p:txBody>
      </p:sp>
      <p:sp>
        <p:nvSpPr>
          <p:cNvPr id="27" name="Shape 25"/>
          <p:cNvSpPr/>
          <p:nvPr/>
        </p:nvSpPr>
        <p:spPr>
          <a:xfrm>
            <a:off x="6400800" y="3493008"/>
            <a:ext cx="1078992" cy="384048"/>
          </a:xfrm>
          <a:prstGeom prst="roundRect">
            <a:avLst>
              <a:gd name="adj" fmla="val 50000"/>
            </a:avLst>
          </a:prstGeom>
          <a:solidFill>
            <a:srgbClr val="F3ECFA"/>
          </a:solidFill>
          <a:ln w="12700">
            <a:solidFill>
              <a:srgbClr val="6E46A5"/>
            </a:solidFill>
            <a:prstDash val="solid"/>
          </a:ln>
        </p:spPr>
      </p:sp>
      <p:sp>
        <p:nvSpPr>
          <p:cNvPr id="28" name="Text 26"/>
          <p:cNvSpPr txBox="1"/>
          <p:nvPr/>
        </p:nvSpPr>
        <p:spPr>
          <a:xfrm>
            <a:off x="6400800" y="3493008"/>
            <a:ext cx="1078992" cy="384048"/>
          </a:xfrm>
          <a:prstGeom prst="rect">
            <a:avLst/>
          </a:prstGeom>
          <a:noFill/>
          <a:ln/>
        </p:spPr>
        <p:txBody>
          <a:bodyPr wrap="square" lIns="0" tIns="0" rIns="0" bIns="0" rtlCol="0" anchor="ctr"/>
          <a:lstStyle/>
          <a:p>
            <a:pPr algn="ctr" indent="0" marL="0">
              <a:buNone/>
            </a:pPr>
            <a:r>
              <a:rPr lang="en-US" sz="1000" b="1" dirty="0">
                <a:solidFill>
                  <a:srgbClr val="6E46A5"/>
                </a:solidFill>
              </a:rPr>
              <a:t>Auditoría</a:t>
            </a:r>
            <a:endParaRPr lang="en-US" sz="1000" dirty="0"/>
          </a:p>
        </p:txBody>
      </p:sp>
      <p:sp>
        <p:nvSpPr>
          <p:cNvPr id="29" name="Shape 27"/>
          <p:cNvSpPr/>
          <p:nvPr/>
        </p:nvSpPr>
        <p:spPr>
          <a:xfrm>
            <a:off x="7589520" y="3493008"/>
            <a:ext cx="1078992" cy="384048"/>
          </a:xfrm>
          <a:prstGeom prst="roundRect">
            <a:avLst>
              <a:gd name="adj" fmla="val 50000"/>
            </a:avLst>
          </a:prstGeom>
          <a:solidFill>
            <a:srgbClr val="E4F6F7"/>
          </a:solidFill>
          <a:ln w="12700">
            <a:solidFill>
              <a:srgbClr val="007B83"/>
            </a:solidFill>
            <a:prstDash val="solid"/>
          </a:ln>
        </p:spPr>
      </p:sp>
      <p:sp>
        <p:nvSpPr>
          <p:cNvPr id="30" name="Text 28"/>
          <p:cNvSpPr txBox="1"/>
          <p:nvPr/>
        </p:nvSpPr>
        <p:spPr>
          <a:xfrm>
            <a:off x="7589520" y="3493008"/>
            <a:ext cx="1078992" cy="384048"/>
          </a:xfrm>
          <a:prstGeom prst="rect">
            <a:avLst/>
          </a:prstGeom>
          <a:noFill/>
          <a:ln/>
        </p:spPr>
        <p:txBody>
          <a:bodyPr wrap="square" lIns="0" tIns="0" rIns="0" bIns="0" rtlCol="0" anchor="ctr"/>
          <a:lstStyle/>
          <a:p>
            <a:pPr algn="ctr" indent="0" marL="0">
              <a:buNone/>
            </a:pPr>
            <a:r>
              <a:rPr lang="en-US" sz="1000" b="1" dirty="0">
                <a:solidFill>
                  <a:srgbClr val="007B83"/>
                </a:solidFill>
              </a:rPr>
              <a:t>Sin conexión</a:t>
            </a:r>
            <a:endParaRPr lang="en-US" sz="1000" dirty="0"/>
          </a:p>
        </p:txBody>
      </p:sp>
      <p:sp>
        <p:nvSpPr>
          <p:cNvPr id="31" name="Shape 29"/>
          <p:cNvSpPr/>
          <p:nvPr/>
        </p:nvSpPr>
        <p:spPr>
          <a:xfrm>
            <a:off x="457200" y="4069080"/>
            <a:ext cx="8229600" cy="548640"/>
          </a:xfrm>
          <a:prstGeom prst="roundRect">
            <a:avLst>
              <a:gd name="adj" fmla="val 13333"/>
            </a:avLst>
          </a:prstGeom>
          <a:solidFill>
            <a:srgbClr val="F4FBFE"/>
          </a:solidFill>
          <a:ln w="12700">
            <a:solidFill>
              <a:srgbClr val="C5E8F8"/>
            </a:solidFill>
            <a:prstDash val="solid"/>
          </a:ln>
        </p:spPr>
      </p:sp>
      <p:sp>
        <p:nvSpPr>
          <p:cNvPr id="32" name="Text 30"/>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100" b="1" dirty="0">
                <a:solidFill>
                  <a:srgbClr val="04144C"/>
                </a:solidFill>
              </a:rPr>
              <a:t>Cambio propuesto: </a:t>
            </a:r>
            <a:pPr indent="0" marL="0">
              <a:buNone/>
            </a:pPr>
            <a:r>
              <a:rPr lang="en-US" sz="1100" dirty="0">
                <a:solidFill>
                  <a:srgbClr val="3A4754"/>
                </a:solidFill>
              </a:rPr>
              <a:t>el contorno de foco sobre fondos claros será azul de acción #0455C4 (en lugar de #35A6E8) para cumplir el contraste mínimo de accesibilidad; sobre azul noche se conserva #35A6E8.</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Paleta completa en el prototipo</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Escalas de marca, neutros y colores semánticos tal como se aplican en la interfaz</a:t>
            </a:r>
            <a:endParaRPr lang="en-US" sz="1200" dirty="0"/>
          </a:p>
        </p:txBody>
      </p:sp>
      <p:sp>
        <p:nvSpPr>
          <p:cNvPr id="4" name="Shape 2"/>
          <p:cNvSpPr/>
          <p:nvPr/>
        </p:nvSpPr>
        <p:spPr>
          <a:xfrm>
            <a:off x="830925" y="1124712"/>
            <a:ext cx="7482149" cy="3557016"/>
          </a:xfrm>
          <a:prstGeom prst="rect">
            <a:avLst/>
          </a:prstGeom>
          <a:solidFill>
            <a:srgbClr val="DDE2E7"/>
          </a:solidFill>
          <a:ln w="12700">
            <a:solidFill>
              <a:srgbClr val="DDE2E7"/>
            </a:solidFill>
            <a:prstDash val="solid"/>
          </a:ln>
          <a:effectLst>
            <a:outerShdw sx="100000" sy="100000" kx="0" ky="0" algn="bl" rotWithShape="0" blurRad="101600" dist="25400" dir="5400000">
              <a:srgbClr val="04144C">
                <a:alpha val="12000"/>
              </a:srgbClr>
            </a:outerShdw>
          </a:effectLst>
        </p:spPr>
      </p:sp>
      <p:pic>
        <p:nvPicPr>
          <p:cNvPr id="5" name="Image 0" descr="/tmp/claude-0/-home-claude/2a8ef176-4806-5a15-bc29-b8b1e69d0036/scratchpad/shot3.png">    </p:cNvPr>
          <p:cNvPicPr>
            <a:picLocks noChangeAspect="1"/>
          </p:cNvPicPr>
          <p:nvPr/>
        </p:nvPicPr>
        <p:blipFill>
          <a:blip r:embed="rId1"/>
          <a:stretch>
            <a:fillRect/>
          </a:stretch>
        </p:blipFill>
        <p:spPr>
          <a:xfrm>
            <a:off x="849213" y="1143000"/>
            <a:ext cx="7445573" cy="3520440"/>
          </a:xfrm>
          <a:prstGeom prst="rect">
            <a:avLst/>
          </a:prstGeom>
        </p:spPr>
      </p:pic>
      <p:sp>
        <p:nvSpPr>
          <p:cNvPr id="6" name="chip"/>
          <p:cNvSpPr/>
          <p:nvPr/>
        </p:nvSpPr>
        <p:spPr>
          <a:xfrm>
            <a:off x="5943600" y="292608"/>
            <a:ext cx="2743200" cy="274320"/>
          </a:xfrm>
          <a:prstGeom prst="roundRect">
            <a:avLst>
              <a:gd name="adj" fmla="val 50000"/>
            </a:avLst>
          </a:prstGeom>
          <a:solidFill>
            <a:srgbClr val="FFF4DB"/>
          </a:solidFill>
          <a:ln w="12700">
            <a:solidFill>
              <a:srgbClr val="FFF4DB"/>
            </a:solidFill>
            <a:prstDash val="solid"/>
          </a:ln>
        </p:spPr>
      </p:sp>
      <p:pic>
        <p:nvPicPr>
          <p:cNvPr id="7" name="Image 1" descr="preencoded.png">    </p:cNvPr>
          <p:cNvPicPr>
            <a:picLocks noChangeAspect="1"/>
          </p:cNvPicPr>
          <p:nvPr/>
        </p:nvPicPr>
        <p:blipFill>
          <a:blip r:embed="rId2"/>
          <a:stretch>
            <a:fillRect/>
          </a:stretch>
        </p:blipFill>
        <p:spPr>
          <a:xfrm>
            <a:off x="6035040" y="356616"/>
            <a:ext cx="146304" cy="146304"/>
          </a:xfrm>
          <a:prstGeom prst="rect">
            <a:avLst/>
          </a:prstGeom>
        </p:spPr>
      </p:pic>
      <p:sp>
        <p:nvSpPr>
          <p:cNvPr id="8" name="Text 4"/>
          <p:cNvSpPr txBox="1"/>
          <p:nvPr/>
        </p:nvSpPr>
        <p:spPr>
          <a:xfrm>
            <a:off x="6217920" y="292608"/>
            <a:ext cx="2423160" cy="274320"/>
          </a:xfrm>
          <a:prstGeom prst="rect">
            <a:avLst/>
          </a:prstGeom>
          <a:noFill/>
          <a:ln/>
        </p:spPr>
        <p:txBody>
          <a:bodyPr wrap="square" lIns="0" tIns="0" rIns="0" bIns="0" rtlCol="0" anchor="ctr"/>
          <a:lstStyle/>
          <a:p>
            <a:pPr indent="0" marL="0">
              <a:buNone/>
            </a:pPr>
            <a:r>
              <a:rPr lang="en-US" sz="1000" b="1" dirty="0">
                <a:solidFill>
                  <a:srgbClr val="A15C00"/>
                </a:solidFill>
              </a:rPr>
              <a:t>Datos ficticios · No es la vista final</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Tipografía</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Escala jerárquica en Montserrat (provisional hasta recibir la fuente oficial)</a:t>
            </a:r>
            <a:endParaRPr lang="en-US" sz="1200" dirty="0"/>
          </a:p>
        </p:txBody>
      </p:sp>
      <p:sp>
        <p:nvSpPr>
          <p:cNvPr id="4" name="Shape 2"/>
          <p:cNvSpPr/>
          <p:nvPr/>
        </p:nvSpPr>
        <p:spPr>
          <a:xfrm>
            <a:off x="830925" y="1124712"/>
            <a:ext cx="7482149" cy="3557016"/>
          </a:xfrm>
          <a:prstGeom prst="rect">
            <a:avLst/>
          </a:prstGeom>
          <a:solidFill>
            <a:srgbClr val="DDE2E7"/>
          </a:solidFill>
          <a:ln w="12700">
            <a:solidFill>
              <a:srgbClr val="DDE2E7"/>
            </a:solidFill>
            <a:prstDash val="solid"/>
          </a:ln>
          <a:effectLst>
            <a:outerShdw sx="100000" sy="100000" kx="0" ky="0" algn="bl" rotWithShape="0" blurRad="101600" dist="25400" dir="5400000">
              <a:srgbClr val="04144C">
                <a:alpha val="12000"/>
              </a:srgbClr>
            </a:outerShdw>
          </a:effectLst>
        </p:spPr>
      </p:sp>
      <p:pic>
        <p:nvPicPr>
          <p:cNvPr id="5" name="Image 0" descr="/tmp/claude-0/-home-claude/2a8ef176-4806-5a15-bc29-b8b1e69d0036/scratchpad/shot4.png">    </p:cNvPr>
          <p:cNvPicPr>
            <a:picLocks noChangeAspect="1"/>
          </p:cNvPicPr>
          <p:nvPr/>
        </p:nvPicPr>
        <p:blipFill>
          <a:blip r:embed="rId1"/>
          <a:stretch>
            <a:fillRect/>
          </a:stretch>
        </p:blipFill>
        <p:spPr>
          <a:xfrm>
            <a:off x="849213" y="1143000"/>
            <a:ext cx="7445573" cy="3520440"/>
          </a:xfrm>
          <a:prstGeom prst="rect">
            <a:avLst/>
          </a:prstGeom>
        </p:spPr>
      </p:pic>
      <p:sp>
        <p:nvSpPr>
          <p:cNvPr id="6" name="chip"/>
          <p:cNvSpPr/>
          <p:nvPr/>
        </p:nvSpPr>
        <p:spPr>
          <a:xfrm>
            <a:off x="5943600" y="292608"/>
            <a:ext cx="2743200" cy="274320"/>
          </a:xfrm>
          <a:prstGeom prst="roundRect">
            <a:avLst>
              <a:gd name="adj" fmla="val 50000"/>
            </a:avLst>
          </a:prstGeom>
          <a:solidFill>
            <a:srgbClr val="FFF4DB"/>
          </a:solidFill>
          <a:ln w="12700">
            <a:solidFill>
              <a:srgbClr val="FFF4DB"/>
            </a:solidFill>
            <a:prstDash val="solid"/>
          </a:ln>
        </p:spPr>
      </p:sp>
      <p:pic>
        <p:nvPicPr>
          <p:cNvPr id="7" name="Image 1" descr="preencoded.png">    </p:cNvPr>
          <p:cNvPicPr>
            <a:picLocks noChangeAspect="1"/>
          </p:cNvPicPr>
          <p:nvPr/>
        </p:nvPicPr>
        <p:blipFill>
          <a:blip r:embed="rId2"/>
          <a:stretch>
            <a:fillRect/>
          </a:stretch>
        </p:blipFill>
        <p:spPr>
          <a:xfrm>
            <a:off x="6035040" y="356616"/>
            <a:ext cx="146304" cy="146304"/>
          </a:xfrm>
          <a:prstGeom prst="rect">
            <a:avLst/>
          </a:prstGeom>
        </p:spPr>
      </p:pic>
      <p:sp>
        <p:nvSpPr>
          <p:cNvPr id="8" name="Text 4"/>
          <p:cNvSpPr txBox="1"/>
          <p:nvPr/>
        </p:nvSpPr>
        <p:spPr>
          <a:xfrm>
            <a:off x="6217920" y="292608"/>
            <a:ext cx="2423160" cy="274320"/>
          </a:xfrm>
          <a:prstGeom prst="rect">
            <a:avLst/>
          </a:prstGeom>
          <a:noFill/>
          <a:ln/>
        </p:spPr>
        <p:txBody>
          <a:bodyPr wrap="square" lIns="0" tIns="0" rIns="0" bIns="0" rtlCol="0" anchor="ctr"/>
          <a:lstStyle/>
          <a:p>
            <a:pPr indent="0" marL="0">
              <a:buNone/>
            </a:pPr>
            <a:r>
              <a:rPr lang="en-US" sz="1000" b="1" dirty="0">
                <a:solidFill>
                  <a:srgbClr val="A15C00"/>
                </a:solidFill>
              </a:rPr>
              <a:t>Datos ficticios · No es la vista final</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Botones y campos de formulario</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Variantes, tamaños y estados: foco, deshabilitado, cargando y error de validación</a:t>
            </a:r>
            <a:endParaRPr lang="en-US" sz="1200" dirty="0"/>
          </a:p>
        </p:txBody>
      </p:sp>
      <p:sp>
        <p:nvSpPr>
          <p:cNvPr id="4" name="Shape 2"/>
          <p:cNvSpPr/>
          <p:nvPr/>
        </p:nvSpPr>
        <p:spPr>
          <a:xfrm>
            <a:off x="830925" y="1124712"/>
            <a:ext cx="7482149" cy="3557016"/>
          </a:xfrm>
          <a:prstGeom prst="rect">
            <a:avLst/>
          </a:prstGeom>
          <a:solidFill>
            <a:srgbClr val="DDE2E7"/>
          </a:solidFill>
          <a:ln w="12700">
            <a:solidFill>
              <a:srgbClr val="DDE2E7"/>
            </a:solidFill>
            <a:prstDash val="solid"/>
          </a:ln>
          <a:effectLst>
            <a:outerShdw sx="100000" sy="100000" kx="0" ky="0" algn="bl" rotWithShape="0" blurRad="101600" dist="25400" dir="5400000">
              <a:srgbClr val="04144C">
                <a:alpha val="12000"/>
              </a:srgbClr>
            </a:outerShdw>
          </a:effectLst>
        </p:spPr>
      </p:sp>
      <p:pic>
        <p:nvPicPr>
          <p:cNvPr id="5" name="Image 0" descr="/tmp/claude-0/-home-claude/2a8ef176-4806-5a15-bc29-b8b1e69d0036/scratchpad/shot5.png">    </p:cNvPr>
          <p:cNvPicPr>
            <a:picLocks noChangeAspect="1"/>
          </p:cNvPicPr>
          <p:nvPr/>
        </p:nvPicPr>
        <p:blipFill>
          <a:blip r:embed="rId1"/>
          <a:stretch>
            <a:fillRect/>
          </a:stretch>
        </p:blipFill>
        <p:spPr>
          <a:xfrm>
            <a:off x="849213" y="1143000"/>
            <a:ext cx="7445573" cy="3520440"/>
          </a:xfrm>
          <a:prstGeom prst="rect">
            <a:avLst/>
          </a:prstGeom>
        </p:spPr>
      </p:pic>
      <p:sp>
        <p:nvSpPr>
          <p:cNvPr id="6" name="chip"/>
          <p:cNvSpPr/>
          <p:nvPr/>
        </p:nvSpPr>
        <p:spPr>
          <a:xfrm>
            <a:off x="5943600" y="292608"/>
            <a:ext cx="2743200" cy="274320"/>
          </a:xfrm>
          <a:prstGeom prst="roundRect">
            <a:avLst>
              <a:gd name="adj" fmla="val 50000"/>
            </a:avLst>
          </a:prstGeom>
          <a:solidFill>
            <a:srgbClr val="FFF4DB"/>
          </a:solidFill>
          <a:ln w="12700">
            <a:solidFill>
              <a:srgbClr val="FFF4DB"/>
            </a:solidFill>
            <a:prstDash val="solid"/>
          </a:ln>
        </p:spPr>
      </p:sp>
      <p:pic>
        <p:nvPicPr>
          <p:cNvPr id="7" name="Image 1" descr="preencoded.png">    </p:cNvPr>
          <p:cNvPicPr>
            <a:picLocks noChangeAspect="1"/>
          </p:cNvPicPr>
          <p:nvPr/>
        </p:nvPicPr>
        <p:blipFill>
          <a:blip r:embed="rId2"/>
          <a:stretch>
            <a:fillRect/>
          </a:stretch>
        </p:blipFill>
        <p:spPr>
          <a:xfrm>
            <a:off x="6035040" y="356616"/>
            <a:ext cx="146304" cy="146304"/>
          </a:xfrm>
          <a:prstGeom prst="rect">
            <a:avLst/>
          </a:prstGeom>
        </p:spPr>
      </p:pic>
      <p:sp>
        <p:nvSpPr>
          <p:cNvPr id="8" name="Text 4"/>
          <p:cNvSpPr txBox="1"/>
          <p:nvPr/>
        </p:nvSpPr>
        <p:spPr>
          <a:xfrm>
            <a:off x="6217920" y="292608"/>
            <a:ext cx="2423160" cy="274320"/>
          </a:xfrm>
          <a:prstGeom prst="rect">
            <a:avLst/>
          </a:prstGeom>
          <a:noFill/>
          <a:ln/>
        </p:spPr>
        <p:txBody>
          <a:bodyPr wrap="square" lIns="0" tIns="0" rIns="0" bIns="0" rtlCol="0" anchor="ctr"/>
          <a:lstStyle/>
          <a:p>
            <a:pPr indent="0" marL="0">
              <a:buNone/>
            </a:pPr>
            <a:r>
              <a:rPr lang="en-US" sz="1000" b="1" dirty="0">
                <a:solidFill>
                  <a:srgbClr val="A15C00"/>
                </a:solidFill>
              </a:rPr>
              <a:t>Datos ficticios · No es la vista final</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Estados y mensajes del sistema</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Chips de estado de máquina y banners informativos, de éxito, advertencia, error, modo lectura y sin conexión</a:t>
            </a:r>
            <a:endParaRPr lang="en-US" sz="1200" dirty="0"/>
          </a:p>
        </p:txBody>
      </p:sp>
      <p:sp>
        <p:nvSpPr>
          <p:cNvPr id="4" name="Shape 2"/>
          <p:cNvSpPr/>
          <p:nvPr/>
        </p:nvSpPr>
        <p:spPr>
          <a:xfrm>
            <a:off x="830925" y="1124712"/>
            <a:ext cx="7482149" cy="3557016"/>
          </a:xfrm>
          <a:prstGeom prst="rect">
            <a:avLst/>
          </a:prstGeom>
          <a:solidFill>
            <a:srgbClr val="DDE2E7"/>
          </a:solidFill>
          <a:ln w="12700">
            <a:solidFill>
              <a:srgbClr val="DDE2E7"/>
            </a:solidFill>
            <a:prstDash val="solid"/>
          </a:ln>
          <a:effectLst>
            <a:outerShdw sx="100000" sy="100000" kx="0" ky="0" algn="bl" rotWithShape="0" blurRad="101600" dist="25400" dir="5400000">
              <a:srgbClr val="04144C">
                <a:alpha val="12000"/>
              </a:srgbClr>
            </a:outerShdw>
          </a:effectLst>
        </p:spPr>
      </p:sp>
      <p:pic>
        <p:nvPicPr>
          <p:cNvPr id="5" name="Image 0" descr="/tmp/claude-0/-home-claude/2a8ef176-4806-5a15-bc29-b8b1e69d0036/scratchpad/shot6.png">    </p:cNvPr>
          <p:cNvPicPr>
            <a:picLocks noChangeAspect="1"/>
          </p:cNvPicPr>
          <p:nvPr/>
        </p:nvPicPr>
        <p:blipFill>
          <a:blip r:embed="rId1"/>
          <a:stretch>
            <a:fillRect/>
          </a:stretch>
        </p:blipFill>
        <p:spPr>
          <a:xfrm>
            <a:off x="849213" y="1143000"/>
            <a:ext cx="7445573" cy="3520440"/>
          </a:xfrm>
          <a:prstGeom prst="rect">
            <a:avLst/>
          </a:prstGeom>
        </p:spPr>
      </p:pic>
      <p:sp>
        <p:nvSpPr>
          <p:cNvPr id="6" name="chip"/>
          <p:cNvSpPr/>
          <p:nvPr/>
        </p:nvSpPr>
        <p:spPr>
          <a:xfrm>
            <a:off x="5943600" y="292608"/>
            <a:ext cx="2743200" cy="274320"/>
          </a:xfrm>
          <a:prstGeom prst="roundRect">
            <a:avLst>
              <a:gd name="adj" fmla="val 50000"/>
            </a:avLst>
          </a:prstGeom>
          <a:solidFill>
            <a:srgbClr val="FFF4DB"/>
          </a:solidFill>
          <a:ln w="12700">
            <a:solidFill>
              <a:srgbClr val="FFF4DB"/>
            </a:solidFill>
            <a:prstDash val="solid"/>
          </a:ln>
        </p:spPr>
      </p:sp>
      <p:pic>
        <p:nvPicPr>
          <p:cNvPr id="7" name="Image 1" descr="preencoded.png">    </p:cNvPr>
          <p:cNvPicPr>
            <a:picLocks noChangeAspect="1"/>
          </p:cNvPicPr>
          <p:nvPr/>
        </p:nvPicPr>
        <p:blipFill>
          <a:blip r:embed="rId2"/>
          <a:stretch>
            <a:fillRect/>
          </a:stretch>
        </p:blipFill>
        <p:spPr>
          <a:xfrm>
            <a:off x="6035040" y="356616"/>
            <a:ext cx="146304" cy="146304"/>
          </a:xfrm>
          <a:prstGeom prst="rect">
            <a:avLst/>
          </a:prstGeom>
        </p:spPr>
      </p:pic>
      <p:sp>
        <p:nvSpPr>
          <p:cNvPr id="8" name="Text 4"/>
          <p:cNvSpPr txBox="1"/>
          <p:nvPr/>
        </p:nvSpPr>
        <p:spPr>
          <a:xfrm>
            <a:off x="6217920" y="292608"/>
            <a:ext cx="2423160" cy="274320"/>
          </a:xfrm>
          <a:prstGeom prst="rect">
            <a:avLst/>
          </a:prstGeom>
          <a:noFill/>
          <a:ln/>
        </p:spPr>
        <p:txBody>
          <a:bodyPr wrap="square" lIns="0" tIns="0" rIns="0" bIns="0" rtlCol="0" anchor="ctr"/>
          <a:lstStyle/>
          <a:p>
            <a:pPr indent="0" marL="0">
              <a:buNone/>
            </a:pPr>
            <a:r>
              <a:rPr lang="en-US" sz="1000" b="1" dirty="0">
                <a:solidFill>
                  <a:srgbClr val="A15C00"/>
                </a:solidFill>
              </a:rPr>
              <a:t>Datos ficticios · No es la vista final</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Tarjetas, tablas y estado vacío</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Patrones reutilizables para listas de máquinas, indicadores y pantallas sin información</a:t>
            </a:r>
            <a:endParaRPr lang="en-US" sz="1200" dirty="0"/>
          </a:p>
        </p:txBody>
      </p:sp>
      <p:sp>
        <p:nvSpPr>
          <p:cNvPr id="4" name="Shape 2"/>
          <p:cNvSpPr/>
          <p:nvPr/>
        </p:nvSpPr>
        <p:spPr>
          <a:xfrm>
            <a:off x="830925" y="1124712"/>
            <a:ext cx="7482149" cy="3557016"/>
          </a:xfrm>
          <a:prstGeom prst="rect">
            <a:avLst/>
          </a:prstGeom>
          <a:solidFill>
            <a:srgbClr val="DDE2E7"/>
          </a:solidFill>
          <a:ln w="12700">
            <a:solidFill>
              <a:srgbClr val="DDE2E7"/>
            </a:solidFill>
            <a:prstDash val="solid"/>
          </a:ln>
          <a:effectLst>
            <a:outerShdw sx="100000" sy="100000" kx="0" ky="0" algn="bl" rotWithShape="0" blurRad="101600" dist="25400" dir="5400000">
              <a:srgbClr val="04144C">
                <a:alpha val="12000"/>
              </a:srgbClr>
            </a:outerShdw>
          </a:effectLst>
        </p:spPr>
      </p:sp>
      <p:pic>
        <p:nvPicPr>
          <p:cNvPr id="5" name="Image 0" descr="/tmp/claude-0/-home-claude/2a8ef176-4806-5a15-bc29-b8b1e69d0036/scratchpad/shot7.png">    </p:cNvPr>
          <p:cNvPicPr>
            <a:picLocks noChangeAspect="1"/>
          </p:cNvPicPr>
          <p:nvPr/>
        </p:nvPicPr>
        <p:blipFill>
          <a:blip r:embed="rId1"/>
          <a:stretch>
            <a:fillRect/>
          </a:stretch>
        </p:blipFill>
        <p:spPr>
          <a:xfrm>
            <a:off x="849213" y="1143000"/>
            <a:ext cx="7445573" cy="3520440"/>
          </a:xfrm>
          <a:prstGeom prst="rect">
            <a:avLst/>
          </a:prstGeom>
        </p:spPr>
      </p:pic>
      <p:sp>
        <p:nvSpPr>
          <p:cNvPr id="6" name="chip"/>
          <p:cNvSpPr/>
          <p:nvPr/>
        </p:nvSpPr>
        <p:spPr>
          <a:xfrm>
            <a:off x="5943600" y="292608"/>
            <a:ext cx="2743200" cy="274320"/>
          </a:xfrm>
          <a:prstGeom prst="roundRect">
            <a:avLst>
              <a:gd name="adj" fmla="val 50000"/>
            </a:avLst>
          </a:prstGeom>
          <a:solidFill>
            <a:srgbClr val="FFF4DB"/>
          </a:solidFill>
          <a:ln w="12700">
            <a:solidFill>
              <a:srgbClr val="FFF4DB"/>
            </a:solidFill>
            <a:prstDash val="solid"/>
          </a:ln>
        </p:spPr>
      </p:sp>
      <p:pic>
        <p:nvPicPr>
          <p:cNvPr id="7" name="Image 1" descr="preencoded.png">    </p:cNvPr>
          <p:cNvPicPr>
            <a:picLocks noChangeAspect="1"/>
          </p:cNvPicPr>
          <p:nvPr/>
        </p:nvPicPr>
        <p:blipFill>
          <a:blip r:embed="rId2"/>
          <a:stretch>
            <a:fillRect/>
          </a:stretch>
        </p:blipFill>
        <p:spPr>
          <a:xfrm>
            <a:off x="6035040" y="356616"/>
            <a:ext cx="146304" cy="146304"/>
          </a:xfrm>
          <a:prstGeom prst="rect">
            <a:avLst/>
          </a:prstGeom>
        </p:spPr>
      </p:pic>
      <p:sp>
        <p:nvSpPr>
          <p:cNvPr id="8" name="Text 4"/>
          <p:cNvSpPr txBox="1"/>
          <p:nvPr/>
        </p:nvSpPr>
        <p:spPr>
          <a:xfrm>
            <a:off x="6217920" y="292608"/>
            <a:ext cx="2423160" cy="274320"/>
          </a:xfrm>
          <a:prstGeom prst="rect">
            <a:avLst/>
          </a:prstGeom>
          <a:noFill/>
          <a:ln/>
        </p:spPr>
        <p:txBody>
          <a:bodyPr wrap="square" lIns="0" tIns="0" rIns="0" bIns="0" rtlCol="0" anchor="ctr"/>
          <a:lstStyle/>
          <a:p>
            <a:pPr indent="0" marL="0">
              <a:buNone/>
            </a:pPr>
            <a:r>
              <a:rPr lang="en-US" sz="1000" b="1" dirty="0">
                <a:solidFill>
                  <a:srgbClr val="A15C00"/>
                </a:solidFill>
              </a:rPr>
              <a:t>Datos ficticios · No es la vista final</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822960"/>
          </a:xfrm>
          <a:prstGeom prst="rect">
            <a:avLst/>
          </a:prstGeom>
          <a:noFill/>
          <a:ln/>
        </p:spPr>
        <p:txBody>
          <a:bodyPr wrap="square" lIns="0" tIns="0" rIns="0" bIns="0" rtlCol="0"/>
          <a:lstStyle/>
          <a:p>
            <a:pPr algn="l" indent="0" marL="0">
              <a:buNone/>
            </a:pPr>
            <a:r>
              <a:rPr lang="en-US" sz="3400" b="1" dirty="0">
                <a:solidFill>
                  <a:srgbClr val="FFFFFF"/>
                </a:solidFill>
                <a:latin typeface="Montserrat" pitchFamily="34" charset="0"/>
                <a:ea typeface="Montserrat" pitchFamily="34" charset="-122"/>
                <a:cs typeface="Montserrat" pitchFamily="34" charset="-120"/>
              </a:rPr>
              <a:t>Pantalla de referencia</a:t>
            </a:r>
            <a:endParaRPr lang="en-US" sz="3400" dirty="0"/>
          </a:p>
        </p:txBody>
      </p:sp>
      <p:sp>
        <p:nvSpPr>
          <p:cNvPr id="3" name="Text 0"/>
          <p:cNvSpPr/>
          <p:nvPr>
            <p:ph idx="101" type="body" hasCustomPrompt="1"/>
          </p:nvPr>
        </p:nvSpPr>
        <p:spPr>
          <a:xfrm>
            <a:off x="548640" y="2697480"/>
            <a:ext cx="7680960" cy="731520"/>
          </a:xfrm>
          <a:prstGeom prst="rect">
            <a:avLst/>
          </a:prstGeom>
          <a:noFill/>
          <a:ln/>
        </p:spPr>
        <p:txBody>
          <a:bodyPr wrap="square" lIns="0" tIns="0" rIns="0" bIns="0" rtlCol="0" anchor="t"/>
          <a:lstStyle/>
          <a:p>
            <a:pPr algn="l" indent="0" marL="0">
              <a:buNone/>
            </a:pPr>
            <a:r>
              <a:rPr lang="en-US" sz="1600" dirty="0">
                <a:solidFill>
                  <a:srgbClr val="9CD5EF"/>
                </a:solidFill>
              </a:rPr>
              <a:t>Resumen del propietario: ejemplo de cómo se combinan los fundamentos en una pantalla real</a:t>
            </a:r>
            <a:endParaRPr lang="en-US" sz="16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CD5E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Resumen del propietario</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Barra lateral azul noche, encabezado con contexto, indicadores y alerta crítica fijada</a:t>
            </a:r>
            <a:endParaRPr lang="en-US" sz="1200" dirty="0"/>
          </a:p>
        </p:txBody>
      </p:sp>
      <p:sp>
        <p:nvSpPr>
          <p:cNvPr id="4" name="Shape 2"/>
          <p:cNvSpPr/>
          <p:nvPr/>
        </p:nvSpPr>
        <p:spPr>
          <a:xfrm>
            <a:off x="537614" y="1124712"/>
            <a:ext cx="8068771" cy="3557016"/>
          </a:xfrm>
          <a:prstGeom prst="rect">
            <a:avLst/>
          </a:prstGeom>
          <a:solidFill>
            <a:srgbClr val="DDE2E7"/>
          </a:solidFill>
          <a:ln w="12700">
            <a:solidFill>
              <a:srgbClr val="DDE2E7"/>
            </a:solidFill>
            <a:prstDash val="solid"/>
          </a:ln>
          <a:effectLst>
            <a:outerShdw sx="100000" sy="100000" kx="0" ky="0" algn="bl" rotWithShape="0" blurRad="101600" dist="25400" dir="5400000">
              <a:srgbClr val="04144C">
                <a:alpha val="12000"/>
              </a:srgbClr>
            </a:outerShdw>
          </a:effectLst>
        </p:spPr>
      </p:sp>
      <p:pic>
        <p:nvPicPr>
          <p:cNvPr id="5" name="Image 0" descr="/tmp/claude-0/-home-claude/2a8ef176-4806-5a15-bc29-b8b1e69d0036/scratchpad/shot1.png">    </p:cNvPr>
          <p:cNvPicPr>
            <a:picLocks noChangeAspect="1"/>
          </p:cNvPicPr>
          <p:nvPr/>
        </p:nvPicPr>
        <p:blipFill>
          <a:blip r:embed="rId1"/>
          <a:stretch>
            <a:fillRect/>
          </a:stretch>
        </p:blipFill>
        <p:spPr>
          <a:xfrm>
            <a:off x="555902" y="1143000"/>
            <a:ext cx="8032195" cy="3520440"/>
          </a:xfrm>
          <a:prstGeom prst="rect">
            <a:avLst/>
          </a:prstGeom>
        </p:spPr>
      </p:pic>
      <p:sp>
        <p:nvSpPr>
          <p:cNvPr id="6" name="chip"/>
          <p:cNvSpPr/>
          <p:nvPr/>
        </p:nvSpPr>
        <p:spPr>
          <a:xfrm>
            <a:off x="5943600" y="292608"/>
            <a:ext cx="2743200" cy="274320"/>
          </a:xfrm>
          <a:prstGeom prst="roundRect">
            <a:avLst>
              <a:gd name="adj" fmla="val 50000"/>
            </a:avLst>
          </a:prstGeom>
          <a:solidFill>
            <a:srgbClr val="FFF4DB"/>
          </a:solidFill>
          <a:ln w="12700">
            <a:solidFill>
              <a:srgbClr val="FFF4DB"/>
            </a:solidFill>
            <a:prstDash val="solid"/>
          </a:ln>
        </p:spPr>
      </p:sp>
      <p:pic>
        <p:nvPicPr>
          <p:cNvPr id="7" name="Image 1" descr="preencoded.png">    </p:cNvPr>
          <p:cNvPicPr>
            <a:picLocks noChangeAspect="1"/>
          </p:cNvPicPr>
          <p:nvPr/>
        </p:nvPicPr>
        <p:blipFill>
          <a:blip r:embed="rId2"/>
          <a:stretch>
            <a:fillRect/>
          </a:stretch>
        </p:blipFill>
        <p:spPr>
          <a:xfrm>
            <a:off x="6035040" y="356616"/>
            <a:ext cx="146304" cy="146304"/>
          </a:xfrm>
          <a:prstGeom prst="rect">
            <a:avLst/>
          </a:prstGeom>
        </p:spPr>
      </p:pic>
      <p:sp>
        <p:nvSpPr>
          <p:cNvPr id="8" name="Text 4"/>
          <p:cNvSpPr txBox="1"/>
          <p:nvPr/>
        </p:nvSpPr>
        <p:spPr>
          <a:xfrm>
            <a:off x="6217920" y="292608"/>
            <a:ext cx="2423160" cy="274320"/>
          </a:xfrm>
          <a:prstGeom prst="rect">
            <a:avLst/>
          </a:prstGeom>
          <a:noFill/>
          <a:ln/>
        </p:spPr>
        <p:txBody>
          <a:bodyPr wrap="square" lIns="0" tIns="0" rIns="0" bIns="0" rtlCol="0" anchor="ctr"/>
          <a:lstStyle/>
          <a:p>
            <a:pPr indent="0" marL="0">
              <a:buNone/>
            </a:pPr>
            <a:r>
              <a:rPr lang="en-US" sz="1000" b="1" dirty="0">
                <a:solidFill>
                  <a:srgbClr val="A15C00"/>
                </a:solidFill>
              </a:rPr>
              <a:t>Datos ficticios · No es la vista final</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Resumen del propietario (continuación)</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Tareas, actividad reciente y vista rápida con los tres estados de máquina por separado</a:t>
            </a:r>
            <a:endParaRPr lang="en-US" sz="1200" dirty="0"/>
          </a:p>
        </p:txBody>
      </p:sp>
      <p:sp>
        <p:nvSpPr>
          <p:cNvPr id="4" name="Shape 2"/>
          <p:cNvSpPr/>
          <p:nvPr/>
        </p:nvSpPr>
        <p:spPr>
          <a:xfrm>
            <a:off x="543969" y="1124712"/>
            <a:ext cx="8056062" cy="3557016"/>
          </a:xfrm>
          <a:prstGeom prst="rect">
            <a:avLst/>
          </a:prstGeom>
          <a:solidFill>
            <a:srgbClr val="DDE2E7"/>
          </a:solidFill>
          <a:ln w="12700">
            <a:solidFill>
              <a:srgbClr val="DDE2E7"/>
            </a:solidFill>
            <a:prstDash val="solid"/>
          </a:ln>
          <a:effectLst>
            <a:outerShdw sx="100000" sy="100000" kx="0" ky="0" algn="bl" rotWithShape="0" blurRad="101600" dist="25400" dir="5400000">
              <a:srgbClr val="04144C">
                <a:alpha val="12000"/>
              </a:srgbClr>
            </a:outerShdw>
          </a:effectLst>
        </p:spPr>
      </p:sp>
      <p:pic>
        <p:nvPicPr>
          <p:cNvPr id="5" name="Image 0" descr="/tmp/claude-0/-home-claude/2a8ef176-4806-5a15-bc29-b8b1e69d0036/scratchpad/shot2.png">    </p:cNvPr>
          <p:cNvPicPr>
            <a:picLocks noChangeAspect="1"/>
          </p:cNvPicPr>
          <p:nvPr/>
        </p:nvPicPr>
        <p:blipFill>
          <a:blip r:embed="rId1"/>
          <a:stretch>
            <a:fillRect/>
          </a:stretch>
        </p:blipFill>
        <p:spPr>
          <a:xfrm>
            <a:off x="562257" y="1143000"/>
            <a:ext cx="8019486" cy="3520440"/>
          </a:xfrm>
          <a:prstGeom prst="rect">
            <a:avLst/>
          </a:prstGeom>
        </p:spPr>
      </p:pic>
      <p:sp>
        <p:nvSpPr>
          <p:cNvPr id="6" name="chip"/>
          <p:cNvSpPr/>
          <p:nvPr/>
        </p:nvSpPr>
        <p:spPr>
          <a:xfrm>
            <a:off x="5943600" y="292608"/>
            <a:ext cx="2743200" cy="274320"/>
          </a:xfrm>
          <a:prstGeom prst="roundRect">
            <a:avLst>
              <a:gd name="adj" fmla="val 50000"/>
            </a:avLst>
          </a:prstGeom>
          <a:solidFill>
            <a:srgbClr val="FFF4DB"/>
          </a:solidFill>
          <a:ln w="12700">
            <a:solidFill>
              <a:srgbClr val="FFF4DB"/>
            </a:solidFill>
            <a:prstDash val="solid"/>
          </a:ln>
        </p:spPr>
      </p:sp>
      <p:pic>
        <p:nvPicPr>
          <p:cNvPr id="7" name="Image 1" descr="preencoded.png">    </p:cNvPr>
          <p:cNvPicPr>
            <a:picLocks noChangeAspect="1"/>
          </p:cNvPicPr>
          <p:nvPr/>
        </p:nvPicPr>
        <p:blipFill>
          <a:blip r:embed="rId2"/>
          <a:stretch>
            <a:fillRect/>
          </a:stretch>
        </p:blipFill>
        <p:spPr>
          <a:xfrm>
            <a:off x="6035040" y="356616"/>
            <a:ext cx="146304" cy="146304"/>
          </a:xfrm>
          <a:prstGeom prst="rect">
            <a:avLst/>
          </a:prstGeom>
        </p:spPr>
      </p:pic>
      <p:sp>
        <p:nvSpPr>
          <p:cNvPr id="8" name="Text 4"/>
          <p:cNvSpPr txBox="1"/>
          <p:nvPr/>
        </p:nvSpPr>
        <p:spPr>
          <a:xfrm>
            <a:off x="6217920" y="292608"/>
            <a:ext cx="2423160" cy="274320"/>
          </a:xfrm>
          <a:prstGeom prst="rect">
            <a:avLst/>
          </a:prstGeom>
          <a:noFill/>
          <a:ln/>
        </p:spPr>
        <p:txBody>
          <a:bodyPr wrap="square" lIns="0" tIns="0" rIns="0" bIns="0" rtlCol="0" anchor="ctr"/>
          <a:lstStyle/>
          <a:p>
            <a:pPr indent="0" marL="0">
              <a:buNone/>
            </a:pPr>
            <a:r>
              <a:rPr lang="en-US" sz="1000" b="1" dirty="0">
                <a:solidFill>
                  <a:srgbClr val="A15C00"/>
                </a:solidFill>
              </a:rPr>
              <a:t>Datos ficticios · No es la vista final</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Decisiones que se someten a validación</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Cada punto puede aprobarse, aprobarse con cambios o rechazarse de forma independiente</a:t>
            </a:r>
            <a:endParaRPr lang="en-US" sz="1200" dirty="0"/>
          </a:p>
        </p:txBody>
      </p:sp>
      <p:sp>
        <p:nvSpPr>
          <p:cNvPr id="4" name="Shape 2"/>
          <p:cNvSpPr/>
          <p:nvPr/>
        </p:nvSpPr>
        <p:spPr>
          <a:xfrm>
            <a:off x="457200" y="1234440"/>
            <a:ext cx="3977640" cy="2606040"/>
          </a:xfrm>
          <a:prstGeom prst="roundRect">
            <a:avLst>
              <a:gd name="adj" fmla="val 4912"/>
            </a:avLst>
          </a:prstGeom>
          <a:solidFill>
            <a:srgbClr val="FFFFFF"/>
          </a:solidFill>
          <a:ln w="12700">
            <a:solidFill>
              <a:srgbClr val="DDE2E7"/>
            </a:solidFill>
            <a:prstDash val="solid"/>
          </a:ln>
          <a:effectLst>
            <a:outerShdw sx="100000" sy="100000" kx="0" ky="0" algn="bl" rotWithShape="0" blurRad="76200" dist="25400" dir="5400000">
              <a:srgbClr val="04144C">
                <a:alpha val="8000"/>
              </a:srgbClr>
            </a:outerShdw>
          </a:effectLst>
        </p:spPr>
      </p:sp>
      <p:sp>
        <p:nvSpPr>
          <p:cNvPr id="5" name="Shape 3"/>
          <p:cNvSpPr/>
          <p:nvPr/>
        </p:nvSpPr>
        <p:spPr>
          <a:xfrm>
            <a:off x="685800" y="1417320"/>
            <a:ext cx="457200" cy="457200"/>
          </a:xfrm>
          <a:prstGeom prst="ellipse">
            <a:avLst/>
          </a:prstGeom>
          <a:solidFill>
            <a:srgbClr val="E4F5FD"/>
          </a:solidFill>
          <a:ln w="12700">
            <a:solidFill>
              <a:srgbClr val="E4F5FD"/>
            </a:solidFill>
            <a:prstDash val="solid"/>
          </a:ln>
        </p:spPr>
      </p:sp>
      <p:pic>
        <p:nvPicPr>
          <p:cNvPr id="6" name="Image 0" descr="preencoded.png">    </p:cNvPr>
          <p:cNvPicPr>
            <a:picLocks noChangeAspect="1"/>
          </p:cNvPicPr>
          <p:nvPr/>
        </p:nvPicPr>
        <p:blipFill>
          <a:blip r:embed="rId1"/>
          <a:stretch>
            <a:fillRect/>
          </a:stretch>
        </p:blipFill>
        <p:spPr>
          <a:xfrm>
            <a:off x="795528" y="1527048"/>
            <a:ext cx="237744" cy="237744"/>
          </a:xfrm>
          <a:prstGeom prst="rect">
            <a:avLst/>
          </a:prstGeom>
        </p:spPr>
      </p:pic>
      <p:sp>
        <p:nvSpPr>
          <p:cNvPr id="7" name="Text 4"/>
          <p:cNvSpPr txBox="1"/>
          <p:nvPr/>
        </p:nvSpPr>
        <p:spPr>
          <a:xfrm>
            <a:off x="1280160" y="1417320"/>
            <a:ext cx="3017520" cy="457200"/>
          </a:xfrm>
          <a:prstGeom prst="rect">
            <a:avLst/>
          </a:prstGeom>
          <a:noFill/>
          <a:ln/>
        </p:spPr>
        <p:txBody>
          <a:bodyPr wrap="square" lIns="0" tIns="0" rIns="0" bIns="0" rtlCol="0" anchor="ctr"/>
          <a:lstStyle/>
          <a:p>
            <a:pPr indent="0" marL="0">
              <a:buNone/>
            </a:pPr>
            <a:r>
              <a:rPr lang="en-US" sz="1500" b="1" dirty="0">
                <a:solidFill>
                  <a:srgbClr val="04144C"/>
                </a:solidFill>
                <a:latin typeface="Montserrat" pitchFamily="34" charset="0"/>
                <a:ea typeface="Montserrat" pitchFamily="34" charset="-122"/>
                <a:cs typeface="Montserrat" pitchFamily="34" charset="-120"/>
              </a:rPr>
              <a:t>1. Paleta de colores</a:t>
            </a:r>
            <a:endParaRPr lang="en-US" sz="1500" dirty="0"/>
          </a:p>
        </p:txBody>
      </p:sp>
      <p:sp>
        <p:nvSpPr>
          <p:cNvPr id="8" name="Text 5"/>
          <p:cNvSpPr txBox="1"/>
          <p:nvPr/>
        </p:nvSpPr>
        <p:spPr>
          <a:xfrm>
            <a:off x="685800" y="2011680"/>
            <a:ext cx="3566160" cy="1691640"/>
          </a:xfrm>
          <a:prstGeom prst="rect">
            <a:avLst/>
          </a:prstGeom>
          <a:noFill/>
          <a:ln/>
        </p:spPr>
        <p:txBody>
          <a:bodyPr wrap="square" lIns="0" tIns="0" rIns="0" bIns="0" rtlCol="0" anchor="t"/>
          <a:lstStyle/>
          <a:p>
            <a:pPr indent="0" marL="0">
              <a:buNone/>
            </a:pPr>
            <a:r>
              <a:rPr lang="en-US" sz="1200" dirty="0">
                <a:solidFill>
                  <a:srgbClr val="3A4754"/>
                </a:solidFill>
              </a:rPr>
              <a:t>¿Aprueban como paleta oficial de ICE24 OS los cuatro anclajes de marca (azul noche #04144C, azul de acción #0455C4, celeste hielo #9CD5EF y blanco #FFFFFF), sus tonos intermedios y los colores de estado, incluido el contorno de foco #0455C4 sobre fondos claros?</a:t>
            </a:r>
            <a:endParaRPr lang="en-US" sz="1200" dirty="0"/>
          </a:p>
        </p:txBody>
      </p:sp>
      <p:sp>
        <p:nvSpPr>
          <p:cNvPr id="9" name="Shape 6"/>
          <p:cNvSpPr/>
          <p:nvPr/>
        </p:nvSpPr>
        <p:spPr>
          <a:xfrm>
            <a:off x="4709160" y="1234440"/>
            <a:ext cx="3977640" cy="2606040"/>
          </a:xfrm>
          <a:prstGeom prst="roundRect">
            <a:avLst>
              <a:gd name="adj" fmla="val 4912"/>
            </a:avLst>
          </a:prstGeom>
          <a:solidFill>
            <a:srgbClr val="FFFFFF"/>
          </a:solidFill>
          <a:ln w="12700">
            <a:solidFill>
              <a:srgbClr val="DDE2E7"/>
            </a:solidFill>
            <a:prstDash val="solid"/>
          </a:ln>
          <a:effectLst>
            <a:outerShdw sx="100000" sy="100000" kx="0" ky="0" algn="bl" rotWithShape="0" blurRad="76200" dist="25400" dir="5400000">
              <a:srgbClr val="04144C">
                <a:alpha val="8000"/>
              </a:srgbClr>
            </a:outerShdw>
          </a:effectLst>
        </p:spPr>
      </p:sp>
      <p:sp>
        <p:nvSpPr>
          <p:cNvPr id="10" name="Shape 7"/>
          <p:cNvSpPr/>
          <p:nvPr/>
        </p:nvSpPr>
        <p:spPr>
          <a:xfrm>
            <a:off x="4937760" y="1417320"/>
            <a:ext cx="457200" cy="457200"/>
          </a:xfrm>
          <a:prstGeom prst="ellipse">
            <a:avLst/>
          </a:prstGeom>
          <a:solidFill>
            <a:srgbClr val="E4F5FD"/>
          </a:solidFill>
          <a:ln w="12700">
            <a:solidFill>
              <a:srgbClr val="E4F5FD"/>
            </a:solidFill>
            <a:prstDash val="solid"/>
          </a:ln>
        </p:spPr>
      </p:sp>
      <p:pic>
        <p:nvPicPr>
          <p:cNvPr id="11" name="Image 1" descr="preencoded.png">    </p:cNvPr>
          <p:cNvPicPr>
            <a:picLocks noChangeAspect="1"/>
          </p:cNvPicPr>
          <p:nvPr/>
        </p:nvPicPr>
        <p:blipFill>
          <a:blip r:embed="rId2"/>
          <a:stretch>
            <a:fillRect/>
          </a:stretch>
        </p:blipFill>
        <p:spPr>
          <a:xfrm>
            <a:off x="5047488" y="1527048"/>
            <a:ext cx="237744" cy="237744"/>
          </a:xfrm>
          <a:prstGeom prst="rect">
            <a:avLst/>
          </a:prstGeom>
        </p:spPr>
      </p:pic>
      <p:sp>
        <p:nvSpPr>
          <p:cNvPr id="12" name="Text 8"/>
          <p:cNvSpPr txBox="1"/>
          <p:nvPr/>
        </p:nvSpPr>
        <p:spPr>
          <a:xfrm>
            <a:off x="5532120" y="1417320"/>
            <a:ext cx="3017520" cy="457200"/>
          </a:xfrm>
          <a:prstGeom prst="rect">
            <a:avLst/>
          </a:prstGeom>
          <a:noFill/>
          <a:ln/>
        </p:spPr>
        <p:txBody>
          <a:bodyPr wrap="square" lIns="0" tIns="0" rIns="0" bIns="0" rtlCol="0" anchor="ctr"/>
          <a:lstStyle/>
          <a:p>
            <a:pPr indent="0" marL="0">
              <a:buNone/>
            </a:pPr>
            <a:r>
              <a:rPr lang="en-US" sz="1500" b="1" dirty="0">
                <a:solidFill>
                  <a:srgbClr val="04144C"/>
                </a:solidFill>
                <a:latin typeface="Montserrat" pitchFamily="34" charset="0"/>
                <a:ea typeface="Montserrat" pitchFamily="34" charset="-122"/>
                <a:cs typeface="Montserrat" pitchFamily="34" charset="-120"/>
              </a:rPr>
              <a:t>2. Dirección visual de pantallas</a:t>
            </a:r>
            <a:endParaRPr lang="en-US" sz="1500" dirty="0"/>
          </a:p>
        </p:txBody>
      </p:sp>
      <p:sp>
        <p:nvSpPr>
          <p:cNvPr id="13" name="Text 9"/>
          <p:cNvSpPr txBox="1"/>
          <p:nvPr/>
        </p:nvSpPr>
        <p:spPr>
          <a:xfrm>
            <a:off x="4937760" y="2011680"/>
            <a:ext cx="3566160" cy="1691640"/>
          </a:xfrm>
          <a:prstGeom prst="rect">
            <a:avLst/>
          </a:prstGeom>
          <a:noFill/>
          <a:ln/>
        </p:spPr>
        <p:txBody>
          <a:bodyPr wrap="square" lIns="0" tIns="0" rIns="0" bIns="0" rtlCol="0" anchor="t"/>
          <a:lstStyle/>
          <a:p>
            <a:pPr indent="0" marL="0">
              <a:buNone/>
            </a:pPr>
            <a:r>
              <a:rPr lang="en-US" sz="1200" dirty="0">
                <a:solidFill>
                  <a:srgbClr val="3A4754"/>
                </a:solidFill>
              </a:rPr>
              <a:t>¿Aprueban la dirección visual del prototipo como guía para generar el resto de las pantallas? Incluye barra lateral azul noche, encabezado con contexto, indicadores, alerta crítica, los tres estados de máquina por separado y la navegación móvil.</a:t>
            </a:r>
            <a:endParaRPr lang="en-US" sz="1200" dirty="0"/>
          </a:p>
        </p:txBody>
      </p:sp>
      <p:sp>
        <p:nvSpPr>
          <p:cNvPr id="14" name="Shape 10"/>
          <p:cNvSpPr/>
          <p:nvPr/>
        </p:nvSpPr>
        <p:spPr>
          <a:xfrm>
            <a:off x="457200" y="4023360"/>
            <a:ext cx="8229600" cy="594360"/>
          </a:xfrm>
          <a:prstGeom prst="roundRect">
            <a:avLst>
              <a:gd name="adj" fmla="val 12308"/>
            </a:avLst>
          </a:prstGeom>
          <a:solidFill>
            <a:srgbClr val="FFF4DB"/>
          </a:solidFill>
          <a:ln w="12700">
            <a:solidFill>
              <a:srgbClr val="F1CF89"/>
            </a:solidFill>
            <a:prstDash val="solid"/>
          </a:ln>
        </p:spPr>
      </p:sp>
      <p:sp>
        <p:nvSpPr>
          <p:cNvPr id="15" name="Text 11"/>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100" dirty="0">
                <a:solidFill>
                  <a:srgbClr val="17212B"/>
                </a:solidFill>
              </a:rPr>
              <a:t>La tipografía (Montserrat) queda provisional hasta recibir la fuente oficial. Los detalles finos (componentes, accesibilidad, estados de error y carga) se validarán durante la Fase 6 y se firmarán al cierre de la fase.</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02920"/>
          </a:xfrm>
          <a:prstGeom prst="rect">
            <a:avLst/>
          </a:prstGeom>
          <a:noFill/>
          <a:ln/>
        </p:spPr>
        <p:txBody>
          <a:bodyPr wrap="square" lIns="0" tIns="0" rIns="0" bIns="0" rtlCol="0" anchor="ctr"/>
          <a:lstStyle/>
          <a:p>
            <a:pPr algn="l" indent="0" marL="0">
              <a:buNone/>
            </a:pPr>
            <a:r>
              <a:rPr lang="en-US" sz="2400" b="1" dirty="0">
                <a:solidFill>
                  <a:srgbClr val="04144C"/>
                </a:solidFill>
                <a:latin typeface="Montserrat" pitchFamily="34" charset="0"/>
                <a:ea typeface="Montserrat" pitchFamily="34" charset="-122"/>
                <a:cs typeface="Montserrat" pitchFamily="34" charset="-120"/>
              </a:rPr>
              <a:t>Registro de aprobación</a:t>
            </a:r>
            <a:endParaRPr lang="en-US" sz="2400" dirty="0"/>
          </a:p>
        </p:txBody>
      </p:sp>
      <p:sp>
        <p:nvSpPr>
          <p:cNvPr id="3" name="Text 0"/>
          <p:cNvSpPr/>
          <p:nvPr>
            <p:ph idx="101" type="body" hasCustomPrompt="1"/>
          </p:nvPr>
        </p:nvSpPr>
        <p:spPr>
          <a:xfrm>
            <a:off x="457200" y="777240"/>
            <a:ext cx="8229600" cy="274320"/>
          </a:xfrm>
          <a:prstGeom prst="rect">
            <a:avLst/>
          </a:prstGeom>
          <a:noFill/>
          <a:ln/>
        </p:spPr>
        <p:txBody>
          <a:bodyPr wrap="square" lIns="0" tIns="0" rIns="0" bIns="0" rtlCol="0" anchor="t"/>
          <a:lstStyle/>
          <a:p>
            <a:pPr algn="l" indent="0" marL="0">
              <a:buNone/>
            </a:pPr>
            <a:r>
              <a:rPr lang="en-US" sz="1200" dirty="0">
                <a:solidFill>
                  <a:srgbClr val="556270"/>
                </a:solidFill>
              </a:rPr>
              <a:t>Respuesta por punto: aprobada / aprobada con cambios (indicar cuáles) / rechazada</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737360"/>
                <a:gridCol w="1463040"/>
                <a:gridCol w="1325880"/>
                <a:gridCol w="1508760"/>
                <a:gridCol w="914400"/>
                <a:gridCol w="1280160"/>
              </a:tblGrid>
              <a:tr h="365760">
                <a:tc>
                  <a:txBody>
                    <a:bodyPr/>
                    <a:lstStyle/>
                    <a:p>
                      <a:pPr indent="0" marL="0">
                        <a:buNone/>
                      </a:pPr>
                      <a:r>
                        <a:rPr lang="en-US" sz="1100" b="1" dirty="0">
                          <a:solidFill>
                            <a:srgbClr val="FFFFFF"/>
                          </a:solidFill>
                        </a:rPr>
                        <a:t>Nombre</a:t>
                      </a: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04144C"/>
                    </a:solidFill>
                  </a:tcPr>
                </a:tc>
                <a:tc>
                  <a:txBody>
                    <a:bodyPr/>
                    <a:lstStyle/>
                    <a:p>
                      <a:pPr indent="0" marL="0">
                        <a:buNone/>
                      </a:pPr>
                      <a:r>
                        <a:rPr lang="en-US" sz="1100" b="1" dirty="0">
                          <a:solidFill>
                            <a:srgbClr val="FFFFFF"/>
                          </a:solidFill>
                        </a:rPr>
                        <a:t>Cargo</a:t>
                      </a: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04144C"/>
                    </a:solidFill>
                  </a:tcPr>
                </a:tc>
                <a:tc>
                  <a:txBody>
                    <a:bodyPr/>
                    <a:lstStyle/>
                    <a:p>
                      <a:pPr indent="0" marL="0">
                        <a:buNone/>
                      </a:pPr>
                      <a:r>
                        <a:rPr lang="en-US" sz="1100" b="1" dirty="0">
                          <a:solidFill>
                            <a:srgbClr val="FFFFFF"/>
                          </a:solidFill>
                        </a:rPr>
                        <a:t>1. Paleta</a:t>
                      </a: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04144C"/>
                    </a:solidFill>
                  </a:tcPr>
                </a:tc>
                <a:tc>
                  <a:txBody>
                    <a:bodyPr/>
                    <a:lstStyle/>
                    <a:p>
                      <a:pPr indent="0" marL="0">
                        <a:buNone/>
                      </a:pPr>
                      <a:r>
                        <a:rPr lang="en-US" sz="1100" b="1" dirty="0">
                          <a:solidFill>
                            <a:srgbClr val="FFFFFF"/>
                          </a:solidFill>
                        </a:rPr>
                        <a:t>2. Dirección visual</a:t>
                      </a: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04144C"/>
                    </a:solidFill>
                  </a:tcPr>
                </a:tc>
                <a:tc>
                  <a:txBody>
                    <a:bodyPr/>
                    <a:lstStyle/>
                    <a:p>
                      <a:pPr indent="0" marL="0">
                        <a:buNone/>
                      </a:pPr>
                      <a:r>
                        <a:rPr lang="en-US" sz="1100" b="1" dirty="0">
                          <a:solidFill>
                            <a:srgbClr val="FFFFFF"/>
                          </a:solidFill>
                        </a:rPr>
                        <a:t>Fecha</a:t>
                      </a: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04144C"/>
                    </a:solidFill>
                  </a:tcPr>
                </a:tc>
                <a:tc>
                  <a:txBody>
                    <a:bodyPr/>
                    <a:lstStyle/>
                    <a:p>
                      <a:pPr indent="0" marL="0">
                        <a:buNone/>
                      </a:pPr>
                      <a:r>
                        <a:rPr lang="en-US" sz="1100" b="1" dirty="0">
                          <a:solidFill>
                            <a:srgbClr val="FFFFFF"/>
                          </a:solidFill>
                        </a:rPr>
                        <a:t>Firma</a:t>
                      </a: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solidFill>
                      <a:srgbClr val="04144C"/>
                    </a:solidFill>
                  </a:tcPr>
                </a:tc>
              </a:tr>
              <a:tr h="566928">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566928">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r h="566928">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c>
                  <a:txBody>
                    <a:bodyPr/>
                    <a:lstStyle/>
                    <a:p>
                      <a:pPr indent="0" marL="0">
                        <a:buNone/>
                      </a:pPr>
                      <a:endParaRPr lang="en-US" sz="1100" dirty="0"/>
                    </a:p>
                  </a:txBody>
                  <a:tcPr marL="91440" marR="91440" marT="45720" marB="45720" anchor="ctr">
                    <a:lnL w="12700" cap="flat" cmpd="sng" algn="ctr">
                      <a:solidFill>
                        <a:srgbClr val="DDE2E7"/>
                      </a:solidFill>
                      <a:prstDash val="solid"/>
                      <a:round/>
                      <a:headEnd type="none" w="med" len="med"/>
                      <a:tailEnd type="none" w="med" len="med"/>
                    </a:lnL>
                    <a:lnR w="12700" cap="flat" cmpd="sng" algn="ctr">
                      <a:solidFill>
                        <a:srgbClr val="DDE2E7"/>
                      </a:solidFill>
                      <a:prstDash val="solid"/>
                      <a:round/>
                      <a:headEnd type="none" w="med" len="med"/>
                      <a:tailEnd type="none" w="med" len="med"/>
                    </a:lnR>
                    <a:lnT w="12700" cap="flat" cmpd="sng" algn="ctr">
                      <a:solidFill>
                        <a:srgbClr val="DDE2E7"/>
                      </a:solidFill>
                      <a:prstDash val="solid"/>
                      <a:round/>
                      <a:headEnd type="none" w="med" len="med"/>
                      <a:tailEnd type="none" w="med" len="med"/>
                    </a:lnT>
                    <a:lnB w="12700" cap="flat" cmpd="sng" algn="ctr">
                      <a:solidFill>
                        <a:srgbClr val="DDE2E7"/>
                      </a:solidFill>
                      <a:prstDash val="solid"/>
                      <a:round/>
                      <a:headEnd type="none" w="med" len="med"/>
                      <a:tailEnd type="none" w="med" len="med"/>
                    </a:lnB>
                  </a:tcPr>
                </a:tc>
              </a:tr>
            </a:tbl>
          </a:graphicData>
        </a:graphic>
      </p:graphicFrame>
      <p:sp>
        <p:nvSpPr>
          <p:cNvPr id="5" name="Text 2"/>
          <p:cNvSpPr txBox="1"/>
          <p:nvPr/>
        </p:nvSpPr>
        <p:spPr>
          <a:xfrm>
            <a:off x="457200" y="3520440"/>
            <a:ext cx="8229600" cy="274320"/>
          </a:xfrm>
          <a:prstGeom prst="rect">
            <a:avLst/>
          </a:prstGeom>
          <a:noFill/>
          <a:ln/>
        </p:spPr>
        <p:txBody>
          <a:bodyPr wrap="square" lIns="0" tIns="0" rIns="0" bIns="0" rtlCol="0" anchor="ctr"/>
          <a:lstStyle/>
          <a:p>
            <a:pPr indent="0" marL="0">
              <a:buNone/>
            </a:pPr>
            <a:r>
              <a:rPr lang="en-US" sz="1200" b="1" dirty="0">
                <a:solidFill>
                  <a:srgbClr val="04144C"/>
                </a:solidFill>
              </a:rPr>
              <a:t>Cambios solicitados u observaciones:</a:t>
            </a:r>
            <a:endParaRPr lang="en-US" sz="1200" dirty="0"/>
          </a:p>
        </p:txBody>
      </p:sp>
      <p:sp>
        <p:nvSpPr>
          <p:cNvPr id="6" name="Shape 3"/>
          <p:cNvSpPr/>
          <p:nvPr/>
        </p:nvSpPr>
        <p:spPr>
          <a:xfrm>
            <a:off x="457200" y="3840480"/>
            <a:ext cx="8229600" cy="777240"/>
          </a:xfrm>
          <a:prstGeom prst="roundRect">
            <a:avLst>
              <a:gd name="adj" fmla="val 9412"/>
            </a:avLst>
          </a:prstGeom>
          <a:solidFill>
            <a:srgbClr val="F7F9FA"/>
          </a:solidFill>
          <a:ln w="12700">
            <a:solidFill>
              <a:srgbClr val="DDE2E7"/>
            </a:solidFill>
            <a:prstDash val="solid"/>
          </a:ln>
        </p:spPr>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562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822960"/>
          </a:xfrm>
          <a:prstGeom prst="rect">
            <a:avLst/>
          </a:prstGeom>
          <a:noFill/>
          <a:ln/>
        </p:spPr>
        <p:txBody>
          <a:bodyPr wrap="square" lIns="0" tIns="0" rIns="0" bIns="0" rtlCol="0"/>
          <a:lstStyle/>
          <a:p>
            <a:pPr algn="l" indent="0" marL="0">
              <a:buNone/>
            </a:pPr>
            <a:r>
              <a:rPr lang="en-US" sz="3400" b="1" dirty="0">
                <a:solidFill>
                  <a:srgbClr val="FFFFFF"/>
                </a:solidFill>
                <a:latin typeface="Montserrat" pitchFamily="34" charset="0"/>
                <a:ea typeface="Montserrat" pitchFamily="34" charset="-122"/>
                <a:cs typeface="Montserrat" pitchFamily="34" charset="-120"/>
              </a:rPr>
              <a:t>Próximos pasos tras la validación</a:t>
            </a:r>
            <a:endParaRPr lang="en-US" sz="3400" dirty="0"/>
          </a:p>
        </p:txBody>
      </p:sp>
      <p:sp>
        <p:nvSpPr>
          <p:cNvPr id="3" name="Text 1"/>
          <p:cNvSpPr txBox="1"/>
          <p:nvPr/>
        </p:nvSpPr>
        <p:spPr>
          <a:xfrm>
            <a:off x="548640" y="2743200"/>
            <a:ext cx="786384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C5E8F8"/>
                </a:solidFill>
              </a:rPr>
              <a:t>Registrar la decisión y anexar estas capturas como evidencia</a:t>
            </a:r>
            <a:endParaRPr lang="en-US" sz="1500" dirty="0"/>
          </a:p>
          <a:p>
            <a:pPr marL="342900" indent="-342900">
              <a:spcAft>
                <a:spcPts val="600"/>
              </a:spcAft>
              <a:buSzPct val="100000"/>
              <a:buChar char="•"/>
            </a:pPr>
            <a:r>
              <a:rPr lang="en-US" sz="1500" dirty="0">
                <a:solidFill>
                  <a:srgbClr val="C5E8F8"/>
                </a:solidFill>
              </a:rPr>
              <a:t>Incorporar los cambios solicitados al sistema de diseño</a:t>
            </a:r>
            <a:endParaRPr lang="en-US" sz="1500" dirty="0"/>
          </a:p>
          <a:p>
            <a:pPr marL="342900" indent="-342900">
              <a:spcAft>
                <a:spcPts val="600"/>
              </a:spcAft>
              <a:buSzPct val="100000"/>
              <a:buChar char="•"/>
            </a:pPr>
            <a:r>
              <a:rPr lang="en-US" sz="1500" dirty="0">
                <a:solidFill>
                  <a:srgbClr val="C5E8F8"/>
                </a:solidFill>
              </a:rPr>
              <a:t>Usar el prototipo como guía para construir el resto de las pantallas</a:t>
            </a:r>
            <a:endParaRPr lang="en-US" sz="1500" dirty="0"/>
          </a:p>
          <a:p>
            <a:pPr marL="342900" indent="-342900">
              <a:spcAft>
                <a:spcPts val="600"/>
              </a:spcAft>
              <a:buSzPct val="100000"/>
              <a:buChar char="•"/>
            </a:pPr>
            <a:r>
              <a:rPr lang="en-US" sz="1500" dirty="0">
                <a:solidFill>
                  <a:srgbClr val="C5E8F8"/>
                </a:solidFill>
              </a:rPr>
              <a:t>Presentar las pantallas terminadas para la firma de cierre de la Fase 6</a:t>
            </a:r>
            <a:endParaRPr lang="en-US" sz="1500" dirty="0"/>
          </a:p>
        </p:txBody>
      </p:sp>
      <p:sp>
        <p:nvSpPr>
          <p:cNvPr id="4" name="Text 0"/>
          <p:cNvSpPr/>
          <p:nvPr>
            <p:ph idx="101" type="body" hasCustomPrompt="1"/>
          </p:nvPr>
        </p:nvSpPr>
        <p:spPr>
          <a:xfrm>
            <a:off x="548640" y="2697480"/>
            <a:ext cx="7680960" cy="73152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832104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CD5EF"/>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ICE24 OS">
  <a:themeElements>
    <a:clrScheme name="ICE24 OS">
      <a:dk1>
        <a:srgbClr val="17212B"/>
      </a:dk1>
      <a:lt1>
        <a:srgbClr val="FFFFFF"/>
      </a:lt1>
      <a:dk2>
        <a:srgbClr val="04144C"/>
      </a:dk2>
      <a:lt2>
        <a:srgbClr val="F4FBFE"/>
      </a:lt2>
      <a:accent1>
        <a:srgbClr val="0455C4"/>
      </a:accent1>
      <a:accent2>
        <a:srgbClr val="9CD5EF"/>
      </a:accent2>
      <a:accent3>
        <a:srgbClr val="16794D"/>
      </a:accent3>
      <a:accent4>
        <a:srgbClr val="A15C00"/>
      </a:accent4>
      <a:accent5>
        <a:srgbClr val="B42318"/>
      </a:accent5>
      <a:accent6>
        <a:srgbClr val="35A6E8"/>
      </a:accent6>
      <a:hlink>
        <a:srgbClr val="0455C4"/>
      </a:hlink>
      <a:folHlink>
        <a:srgbClr val="033B97"/>
      </a:folHlink>
    </a:clrScheme>
    <a:fontScheme name="ICE24 OS">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ICE24 MX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Propuesta de identidad visual de ICE24 OS</dc:title>
  <dc:subject>PptxGenJS Presentation</dc:subject>
  <dc:creator>Calixto Isaac</dc:creator>
  <cp:lastModifiedBy>Calixto Isaac</cp:lastModifiedBy>
  <cp:revision>1</cp:revision>
  <dcterms:created xsi:type="dcterms:W3CDTF">2026-10-16T00:56:16Z</dcterms:created>
  <dcterms:modified xsi:type="dcterms:W3CDTF">2026-10-16T00:56:16Z</dcterms:modified>
</cp:coreProperties>
</file>